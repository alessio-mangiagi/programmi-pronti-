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6440bea3-a785-63f3-df00-5acbbbd380e1}">
          <p14:sldIdLst>
            <p14:sldId id="256"/>
            <p14:sldId id="257"/>
            <p14:sldId id="258"/>
          </p14:sldIdLst>
        </p14:section>
        <p14:section name="Come funziona" id="{48e46625-9ea3-7ed2-f28f-8b312a30b501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Lavoro in cantiere" id="{b59e5dcd-13d8-fb72-5b24-b1cf65b96a1c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Moduli e PCQ" id="{7cffd611-58ba-f71a-f044-6535989bdd9b}">
          <p14:sldIdLst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Amministrazione" id="{a8c11507-19ed-5e0c-e0be-d16578378138}">
          <p14:sldIdLst>
            <p14:sldId id="283"/>
            <p14:sldId id="284"/>
            <p14:sldId id="285"/>
            <p14:sldId id="286"/>
            <p14:sldId id="287"/>
          </p14:sldIdLst>
        </p14:section>
        <p14:section name="Chiusura" id="{78db18c1-b57b-34ca-c9f4-0d083e902a7f}">
          <p14:sldIdLst>
            <p14:sldId id="288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Benvenuti. Questa presentazione spiega InCampo, la piattaforma Cosedil per gestire i controlli di cantiere: planimetrie, moduli digitali, task e non conformità. La prima parte spiega come funziona, le altre sono una guida pratica a tutte le funzioni, con le schermate reali.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una frase: InCampo porta in digitale i controlli di cantiere. Le segnalazioni stanno sulla planimetria come pin; sui pin, sulle voci WBS o sull'intero cantiere si compilano i moduli (ispezioni, punch list, diari, PCQ). Una risposta "Non conforme" propone un task da assegnare e risolvere, che l'ufficio poi verifica. L'ufficio usa il web; in cantiere si usa l'app Android, che funziona anche offline e sincronizza appena torna la 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guida ha quattro parti. La prima spiega i concetti: se si capisce come sono organizzati commesse, cantieri, pin, voci WBS e moduli, il resto viene da sé. La seconda e la terza sono la guida pratica, una funzione per slide con la schermata reale, chi la usa e i passi. La quarta è per l'amministratore.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Prima di vedere le schermate, quattro concetti: come sono organizzati i dati, come gira un controllo dall'inizio alla fine, chi può fare cosa, e quando si usa il web e quando l'app.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struttura: una commessa raggruppa uno o più cantieri. Dentro un cantiere un controllo si può registrare in tre posti: su un pin della planimetria, quando riguarda un punto preciso; su una voce della WBS, quando riguarda una lavorazione; oppure sul cantiere intero, quando non ha un luogo preciso, per esempio un verbale di riunione. In tutti e tre i casi si compila un modulo partendo da un template. I task invece stanno sempre su un pin, perché sono lavori da fare in un punto.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Ecco il giro completo. Uno: l'amministratore prepara il modulo, anche importandolo dal PCQ in Word. Due: in cantiere qualcuno lo compila. Tre: se una risposta è "Non conforme", l'app propone subito di creare un task già compilato, e l'ufficio riceve una notifica. Quattro: il task viene assegnato a chi deve intervenire, che lo prende in carico e lo segna risolto, possibilmente con una foto. Cinque: l'ufficio verifica e chiude il task come "Verificato". Solo ufficio e amministratore possono verificare.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ruoli. Il personale di cantiere lavora solo nei cantieri a cui è iscritto: aggiunge pin, compila moduli, prende in carico e risolve i task, anche offline dall'app. L'ufficio, cioè il ruolo manager, prepara i cantieri, gestisce i task e la verifica, guarda la dashboard, modifica i moduli esistenti e invita le persone. L'amministratore fa tutto, ed è l'unico che crea moduli nuovi, utenti, etichette invito e parametri, e che vede registro operazioni e segnalazioni.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strumenti. Il web ha tutte le funzioni ed è quello dell'ufficio; i moduli generali del cantiere e quelli sulle voci WBS si compilano solo dal web. L'app Android è per il cantiere: planimetrie, pin, moduli e task, con foto e firma, e funziona anche senza rete. La barra in alto dice lo stato: "Sync" con l'orario vuol dire tutto inviato; "N in attesa" sono modifiche che partiranno con la rete; "Offline" nessuna rete, si continua a lavorare; "problemi" vuol dire che qualcosa è stato rifiutato, si tocca per riprovare o scartare. Importante: prima di uscire dall'account sincronizzare, altrimenti i dati non inviati si perdono.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Sulla planimetria il colore del pin dice a colpo d'occhio lo stato del suo task più urgente: rosso aperto, arancione assegnato, verde risolto, grigio verificato. Un pin blu ha solo moduli compilati, nessun task. A destra il percorso di un task: aperto, assegnato a qualcuno, risolto da chi interviene, verificato dall'ufficio. Se l'ufficio non è soddisfatto può riportarlo indietro.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Adesso la guida pratica. Ogni slide è una funzione: la schermata reale, chi la usa, i passi e un consiglio.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entra con email o nome utente e password. Chi è nuovo di solito riceve un invito: apre il link, sceglie nome e password ed è già dentro con i permessi giusti. Il link vale una volta sola e scade dopo 7 giorni. Dopo troppi tentativi sbagliati l'accesso si blocca per qualche minuto per sicurezza. Se si dimentica la password, la reimposta l'amministratore.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pagina Progetti mostra le commesse con codice, committente e parametri, e sotto i loro cantieri. La barra blu in alto è il modo più rapido per spostarsi: si sceglie la commessa e poi il cantiere. Chi è dell'ufficio crea commesse e cantieri da qui. I parametri, come tipologia lavori o procedura, li definisce l'amministratore e servono anche come filtri. Il personale di cantiere vede solo le commesse dove ha almeno un cantiere.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Ogni cantiere ha una o più planimetrie. Sulla tavola i pin sono i punti con qualcosa da segnalare. Si zooma e ci si sposta liberamente; i filtri in alto mostrano solo i pin che interessano, per esempio solo quelli con task aperti o solo quelli di una persona. Un nuovo pin si aggiunge dal pulsante sul web o tenendo premuto sulla tavola nell'app. L'ufficio carica le planimetrie in PNG, JPG o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Cliccando un pin si apre il suo pannello: il nome, i moduli compilati su quel punto, i task con il loro stato e le foto. Da qui si compila un nuovo modulo sul punto o si crea un task. Conviene rinominare i pin con un nome parlante, perché quel nome compare negli elenchi, nelle notifiche e nei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WBS è l'albero delle lavorazioni, per esempio 01 Opere strutturali, 01.02 Solai. Serve quando un controllo riguarda una lavorazione e non un punto della planimetria. Selezionando una voce si vedono i moduli compilati lì, e il numero accanto conta anche le sottovoci. L'ufficio può importare l'albero da Excel o CSV: con colonne codice e nome, ed eventualmente padre o livello; un secondo import aggiorna le voci con lo stesso codice invece di duplicarle.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compilazione è una pagina dedicata. Si apre dal pulsante verde "Compila modulo" nel menu: se non si è dentro un cantiere, prima si sceglie quale. Si decide dove registrarlo: sul cantiere intero oppure su una voce WBS; sui pin invece si compila dalla planimetria. Poi si sceglie il modulo e si compila. Restando un attimo col mouse su un campo, o premendo il punto interrogativo, compaiono i suggerimenti: se è obbligatorio, i limiti, cosa succede con "Non conforme". Ogni risposta può avere una nota con commento e foto.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pagina raccoglie tutti i moduli compilati nel cantiere, ovunque siano stati registrati, dal più recente. Per ognuno: modulo, luogo, autore, data ed esito, con il segnale rosso se c'è una non conformità. I filtri restano nell'indirizzo della pagina, quindi si possono condividere. Cliccando il luogo si salta al pin sulla planimetria o alla voce WBS.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Aprendo un modulo compilato lo si legge com'è stato inviato. Il PDF contiene tutte le risposte, le foto, la firma e le note, con l'intestazione di commessa e cantiere. Può modificarlo chi l'ha compilato o l'ufficio, e ogni modifica finisce nel registro operazioni. Sui moduli registrati su un pin, se c'è una non conformità compare il riquadro giallo con "Crea task": il task nasce già compilato con titolo e descrizione.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vista Task è la lista di lavoro. Si filtra per stato, planimetria, assegnatario e scadenza; stato, assegnatario e scadenza si cambiano direttamente nella tabella. "I miei task" mostra solo quelli assegnati a sé. Dall'icona del pin si va al punto sulla planimetria. In cantiere, dall'app, si prende in carico il task e lo si segna risolto, meglio con una foto; poi l'ufficio verifica.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dashboard dà il quadro del cantiere: quanti task sono aperti, quanti scaduti, quanti chiusi nell'ultima settimana; l'andamento di creati e risolti; dove si concentrano i problemi per planimetria; quali moduli si compilano di più. Ogni grafico è cliccabile e porta alla lista dei task con il filtro già applicato.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parte riguarda i moduli: come si gestiscono, come si costruiscono e come si importa un Piano di Controllo Qualità da Word. Ricordiamo: creare moduli nuovi è solo dell'amministratore; l'ufficio modifica e archivia quelli esistenti.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sezione Moduli si apre con l'elenco delle attività: nuovo modulo, elenco, scelte multiple, struttura PCQ e le categorie con il numero di moduli. Nell'elenco ogni modulo è "Bozza" o "In uso". Un modulo in uso ha già compilazioni, quindi non se ne cambia più la struttura, altrimenti le risposte vecchie non tornerebbero; si duplica e si modifica la copia. Archiviare un modulo lo toglie dalle nuove compilazioni senza perdere quelle esistenti.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L'editor lavora in due fasi che si possono alternare. Nella Struttura si disegna il modulo: sezioni con titolo, da una a tre colonne, con blocchi anche vuoti. Nei Campi si riempie ogni blocco scegliendo il tipo, e nel pannello Proprietà si regolano etichetta, obbligatorietà, opzioni e testo di aiuto. L'anteprima a destra è il modulo vero, si può già provare a compilarlo. Su telefono le colonne si richiudono a una; il PDF resta un campo per riga.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Spesso basta cambiare le opzioni di una tendina, per esempio aggiungere un'impresa o un rischio. Questa pagina mostra tutti i campi a scelta di tutti i moduli attivi e permette di cambiarli senza aprire l'editor. Anche qui i moduli in uso sono bloccati. Attenzione alle parole: un'opzione con "Non conforme" fa partire la proposta di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Piano di Controllo Qualità si può trasformare in modulo senza ricopiarlo. Dall'editor di un nuovo modulo si sceglie "Importa da PCQ" e si trascina il file. L'app legge le tabelle: ogni riga di controllo diventa una domanda obbligatoria con esito Conforme, Non conforme o Non applicabile; le sezioni seguono la colonna Fase; frequenza, criterio di accettazione e responsabile finiscono nel testo di aiuto. In fondo aggiunge data, note e firma. Il risultato è una bozza: si rivede nell'editor e si salva.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pagina spiega come preparare il file perché l'import funzioni bene. Primo titolo come nome del modulo, controlli in tabelle con la riga di intestazione, colonne riconosciute per nome: Controllo, Fase, e tutte le altre come aiuto. Sotto c'è un PCQ di esempio con il modulo che ne esce, che si può anche compilare per prova. Il modo più sicuro è scaricare l'esempio Word e usarlo come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Nella pagina PCQ di un cantiere si caricano i piani di controllo di quel cantiere, anche più file insieme, per vedere cosa contengono. L'anteprima mostra la struttura e le tabelle così come sono state lette. Da qui l'amministratore, con "Crea modulo", passa direttamente all'editor con il modulo già compilato a partire da quel PCQ.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L'ultima parte è per l'amministratore: come far entrare le persone, gestire gli utenti e tenere sotto controllo cosa succede.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persone si fanno entrare con gli inviti. L'amministratore prepara le etichette, cioè le mansioni: per esempio "Capocantiere" con ruolo, cantieri o commesse a cui viene iscritto e notifiche. Chi invita sceglie solo l'etichetta, così i permessi non si improvvisano; un manager può usare solo etichette di ruolo pari o inferiore al suo. Il link d'invito compare una volta sola: se la posta è configurata parte anche l'email, altrimenti si copia e si manda. Vale una volta e scade dopo 7 giorni; "Rimanda" ne crea uno nuovo e "Revoca" lo annulla.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pagina Utenti elenca tutti con ruolo, stato, ultimo accesso e quante operazioni hanno fatto. Si creano utenti a mano, si cambia nome o ruolo, si reimposta la password, che va comunicata di persona, e si disattiva chi non deve più entrare: i dati che ha inserito restano. Un amministratore non può disattivare sé stesso né togliersi il ruolo.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registro operazioni traccia tutto: accessi, anche quelli falliti, utenti, progetti, planimetrie, moduli, pin, compilazioni, task, foto e sincronizzazioni dall'app. Ogni riga ha utente, data, azione e indirizzo IP. Cliccando si vede il dettaglio e la storia completa di quell'elemento. L'esportazione CSV prende le prime 500 righe del filtro.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strumenti dell'amministratore. I parametri commessa sono campi a scelta personalizzati, come tipologia lavori o procedura: ogni commessa li compila, e in Progetti diventano etichette e filtri. Attenzione: togliere un'opzione la toglie anche dalle commesse che la usavano. Le segnalazioni sono i messaggi che gli utenti mandano con "Contatta l'amministratore", dal web o dall'app: arrivano con il mittente, il cantiere e la pagina da cui scrivono, e l'amministratore riceve anche una notifica. Quando una segnalazione è gestita si chiude.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domande che arrivano più spesso. Un modulo non modificabile è un modulo già compilato: si duplica. I controlli senza un punto preciso si registrano sul cantiere intero. In offline i dati sono al sicuro sul telefono e partono con la rete, ma non bisogna uscire dall'account prima della sincronizzazione. Le notifiche arrivano a chi riceve un task, a chi l'ha creato quando viene risolto e all'ufficio su ogni non conformità. Per qualsiasi problema c'è "Contatta l'amministratore".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Chiudiamo qui. Per qualsiasi dubbio o problema c'è il pulsante "Contatta l'amministratore": il messaggio arriva con il cantiere e la pagina in cui ci si trova, così è più facile aiutare.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pertin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46888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94760"/>
            <a:ext cx="10058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4" name="Text 0"/>
          <p:cNvSpPr/>
          <p:nvPr/>
        </p:nvSpPr>
        <p:spPr>
          <a:xfrm>
            <a:off x="640080" y="6080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Cosedil S.p.A.  ·  InCampo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zion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554480"/>
            <a:ext cx="3657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7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7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74320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749040"/>
            <a:ext cx="8686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InCampo · guida completa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640080" y="1051560"/>
            <a:ext cx="1097280" cy="109728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/>
        </p:spPr>
      </p:sp>
      <p:pic>
        <p:nvPicPr>
          <p:cNvPr id="3" name="Image 0" descr="Logo InCamp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88720"/>
            <a:ext cx="822960" cy="82296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24688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InCampo</a:t>
            </a:r>
            <a:endParaRPr lang="en-US" sz="4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3794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Guida completa: come funziona e come si usa, funzione per funzione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InCampo in breve</a:t>
            </a:r>
            <a:endParaRPr lang="en-US" sz="3200" dirty="0"/>
          </a:p>
        </p:txBody>
      </p:sp>
      <p:sp>
        <p:nvSpPr>
          <p:cNvPr id="3" name="scheda Planimetrie e pin"/>
          <p:cNvSpPr/>
          <p:nvPr/>
        </p:nvSpPr>
        <p:spPr>
          <a:xfrm>
            <a:off x="548640" y="1600200"/>
            <a:ext cx="2567864" cy="3429000"/>
          </a:xfrm>
          <a:prstGeom prst="roundRect">
            <a:avLst>
              <a:gd name="adj" fmla="val 4273"/>
            </a:avLst>
          </a:prstGeom>
          <a:solidFill>
            <a:schemeClr val="bg1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C4577">
                <a:alpha val="18000"/>
              </a:srgbClr>
            </a:outerShdw>
          </a:effectLst>
        </p:spPr>
      </p:sp>
      <p:sp>
        <p:nvSpPr>
          <p:cNvPr id="4" name="icona MdMap"/>
          <p:cNvSpPr/>
          <p:nvPr/>
        </p:nvSpPr>
        <p:spPr>
          <a:xfrm>
            <a:off x="868680" y="196596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673" y="2136953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971800"/>
            <a:ext cx="1927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Planimetrie e pin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749040"/>
            <a:ext cx="1927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Ogni segnalazione è un punto sulla planimetria del cantiere, con i suoi moduli, task e foto.</a:t>
            </a:r>
            <a:endParaRPr lang="en-US" sz="1500" dirty="0"/>
          </a:p>
        </p:txBody>
      </p:sp>
      <p:sp>
        <p:nvSpPr>
          <p:cNvPr id="8" name="scheda Moduli digitali"/>
          <p:cNvSpPr/>
          <p:nvPr/>
        </p:nvSpPr>
        <p:spPr>
          <a:xfrm>
            <a:off x="3390824" y="1600200"/>
            <a:ext cx="2567864" cy="3429000"/>
          </a:xfrm>
          <a:prstGeom prst="roundRect">
            <a:avLst>
              <a:gd name="adj" fmla="val 4273"/>
            </a:avLst>
          </a:prstGeom>
          <a:solidFill>
            <a:schemeClr val="bg1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C4577">
                <a:alpha val="18000"/>
              </a:srgbClr>
            </a:outerShdw>
          </a:effectLst>
        </p:spPr>
      </p:sp>
      <p:sp>
        <p:nvSpPr>
          <p:cNvPr id="9" name="icona MdDescription"/>
          <p:cNvSpPr/>
          <p:nvPr/>
        </p:nvSpPr>
        <p:spPr>
          <a:xfrm>
            <a:off x="3710864" y="196596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857" y="2136953"/>
            <a:ext cx="435254" cy="43525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10864" y="2971800"/>
            <a:ext cx="1927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Moduli digitali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710864" y="3749040"/>
            <a:ext cx="1927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Ispezioni, punch list, diari e PCQ compilati in cantiere, con foto, firma e PDF.</a:t>
            </a:r>
            <a:endParaRPr lang="en-US" sz="1500" dirty="0"/>
          </a:p>
        </p:txBody>
      </p:sp>
      <p:sp>
        <p:nvSpPr>
          <p:cNvPr id="13" name="scheda Task e non conformità"/>
          <p:cNvSpPr/>
          <p:nvPr/>
        </p:nvSpPr>
        <p:spPr>
          <a:xfrm>
            <a:off x="6233008" y="1600200"/>
            <a:ext cx="2567864" cy="3429000"/>
          </a:xfrm>
          <a:prstGeom prst="roundRect">
            <a:avLst>
              <a:gd name="adj" fmla="val 4273"/>
            </a:avLst>
          </a:prstGeom>
          <a:solidFill>
            <a:schemeClr val="bg1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C4577">
                <a:alpha val="18000"/>
              </a:srgbClr>
            </a:outerShdw>
          </a:effectLst>
        </p:spPr>
      </p:sp>
      <p:sp>
        <p:nvSpPr>
          <p:cNvPr id="14" name="icona MdAssignmentTurnedIn"/>
          <p:cNvSpPr/>
          <p:nvPr/>
        </p:nvSpPr>
        <p:spPr>
          <a:xfrm>
            <a:off x="6553048" y="196596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040" y="2136953"/>
            <a:ext cx="435254" cy="43525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53048" y="2971800"/>
            <a:ext cx="1927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e non conformità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553048" y="3749040"/>
            <a:ext cx="1927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 "Non conforme" propone un task: assegnato, risolto e poi verificato dall'ufficio.</a:t>
            </a:r>
            <a:endParaRPr lang="en-US" sz="1500" dirty="0"/>
          </a:p>
        </p:txBody>
      </p:sp>
      <p:sp>
        <p:nvSpPr>
          <p:cNvPr id="18" name="scheda Web e app offline"/>
          <p:cNvSpPr/>
          <p:nvPr/>
        </p:nvSpPr>
        <p:spPr>
          <a:xfrm>
            <a:off x="9075191" y="1600200"/>
            <a:ext cx="2567864" cy="3429000"/>
          </a:xfrm>
          <a:prstGeom prst="roundRect">
            <a:avLst>
              <a:gd name="adj" fmla="val 4273"/>
            </a:avLst>
          </a:prstGeom>
          <a:solidFill>
            <a:schemeClr val="bg1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C4577">
                <a:alpha val="18000"/>
              </a:srgbClr>
            </a:outerShdw>
          </a:effectLst>
        </p:spPr>
      </p:sp>
      <p:sp>
        <p:nvSpPr>
          <p:cNvPr id="19" name="icona MdPhoneAndroid"/>
          <p:cNvSpPr/>
          <p:nvPr/>
        </p:nvSpPr>
        <p:spPr>
          <a:xfrm>
            <a:off x="9395231" y="196596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6224" y="2136953"/>
            <a:ext cx="435254" cy="43525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95231" y="2971800"/>
            <a:ext cx="1927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e app offline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9395231" y="3749040"/>
            <a:ext cx="1927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L'ufficio lavora dal web; in cantiere l'app Android funziona anche senza rete.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440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Un'unica piattaforma per ufficio e cantiere: ogni controllo è tracciato, con chi l'ha fatto, dove e quando.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trovi in questa guida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16459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funziona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22402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Organizzazione dei dati, ciclo dei controlli, ruoli, web e app, colori dei pin.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16002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16459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Lavoro in cantiere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22402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Accesso, progetti, planimetrie, WBS, compilazione, moduli compilati, task, dashboard.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404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38862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Moduli e PCQ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44805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Elenco e editor dei moduli, scelte multiple, import del PCQ da Word o PDF.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38404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0" y="38862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Amministrazione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0" y="44805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Inviti ed etichette, utenti, registro operazioni, parametri, segnalazioni.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5544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funziona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7490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Organizzazione dei dati, ciclo dei controlli, ruoli e strumenti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sono organizzati i dati</a:t>
            </a:r>
            <a:endParaRPr lang="en-US" sz="3200" dirty="0"/>
          </a:p>
        </p:txBody>
      </p:sp>
      <p:sp>
        <p:nvSpPr>
          <p:cNvPr id="3" name="blocco Commessa"/>
          <p:cNvSpPr/>
          <p:nvPr/>
        </p:nvSpPr>
        <p:spPr>
          <a:xfrm>
            <a:off x="548640" y="1463040"/>
            <a:ext cx="274320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Commessa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codice, committente, parametri</a:t>
            </a:r>
            <a:endParaRPr lang="en-US" sz="1700" dirty="0"/>
          </a:p>
        </p:txBody>
      </p:sp>
      <p:sp>
        <p:nvSpPr>
          <p:cNvPr id="5" name="freccia"/>
          <p:cNvSpPr/>
          <p:nvPr/>
        </p:nvSpPr>
        <p:spPr>
          <a:xfrm>
            <a:off x="1920240" y="2468880"/>
            <a:ext cx="914" cy="365760"/>
          </a:xfrm>
          <a:prstGeom prst="line">
            <a:avLst/>
          </a:prstGeom>
          <a:noFill/>
          <a:ln w="1905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6" name="blocco Cantiere"/>
          <p:cNvSpPr/>
          <p:nvPr/>
        </p:nvSpPr>
        <p:spPr>
          <a:xfrm>
            <a:off x="548640" y="2834640"/>
            <a:ext cx="274320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8346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Cantiere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membri, menu del cantiere</a:t>
            </a:r>
            <a:endParaRPr lang="en-US" sz="1700" dirty="0"/>
          </a:p>
        </p:txBody>
      </p:sp>
      <p:sp>
        <p:nvSpPr>
          <p:cNvPr id="8" name="freccia"/>
          <p:cNvSpPr/>
          <p:nvPr/>
        </p:nvSpPr>
        <p:spPr>
          <a:xfrm>
            <a:off x="3291840" y="1965960"/>
            <a:ext cx="960120" cy="1371600"/>
          </a:xfrm>
          <a:prstGeom prst="line">
            <a:avLst/>
          </a:prstGeom>
          <a:noFill/>
          <a:ln w="1905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9" name="blocco Planimetrie → Pin"/>
          <p:cNvSpPr/>
          <p:nvPr/>
        </p:nvSpPr>
        <p:spPr>
          <a:xfrm>
            <a:off x="4251960" y="1463040"/>
            <a:ext cx="23317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89120" y="1463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Planimetrie → Pin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un punto preciso sulla tavola</a:t>
            </a:r>
            <a:endParaRPr lang="en-US" sz="1700" dirty="0"/>
          </a:p>
        </p:txBody>
      </p:sp>
      <p:sp>
        <p:nvSpPr>
          <p:cNvPr id="11" name="freccia"/>
          <p:cNvSpPr/>
          <p:nvPr/>
        </p:nvSpPr>
        <p:spPr>
          <a:xfrm>
            <a:off x="6583680" y="1965960"/>
            <a:ext cx="731520" cy="914"/>
          </a:xfrm>
          <a:prstGeom prst="line">
            <a:avLst/>
          </a:prstGeom>
          <a:noFill/>
          <a:ln w="1905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12" name="freccia"/>
          <p:cNvSpPr/>
          <p:nvPr/>
        </p:nvSpPr>
        <p:spPr>
          <a:xfrm>
            <a:off x="3291840" y="3337560"/>
            <a:ext cx="960120" cy="0"/>
          </a:xfrm>
          <a:prstGeom prst="line">
            <a:avLst/>
          </a:prstGeom>
          <a:noFill/>
          <a:ln w="1905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13" name="blocco WBS → Voci"/>
          <p:cNvSpPr/>
          <p:nvPr/>
        </p:nvSpPr>
        <p:spPr>
          <a:xfrm>
            <a:off x="4251960" y="2834640"/>
            <a:ext cx="23317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89120" y="28346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WBS → Voci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una lavorazione (01.02 Solai)</a:t>
            </a:r>
            <a:endParaRPr lang="en-US" sz="1700" dirty="0"/>
          </a:p>
        </p:txBody>
      </p:sp>
      <p:sp>
        <p:nvSpPr>
          <p:cNvPr id="15" name="freccia"/>
          <p:cNvSpPr/>
          <p:nvPr/>
        </p:nvSpPr>
        <p:spPr>
          <a:xfrm>
            <a:off x="6583680" y="3337560"/>
            <a:ext cx="731520" cy="914"/>
          </a:xfrm>
          <a:prstGeom prst="line">
            <a:avLst/>
          </a:prstGeom>
          <a:noFill/>
          <a:ln w="1905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16" name="freccia"/>
          <p:cNvSpPr/>
          <p:nvPr/>
        </p:nvSpPr>
        <p:spPr>
          <a:xfrm>
            <a:off x="3291840" y="3337560"/>
            <a:ext cx="960120" cy="1371600"/>
          </a:xfrm>
          <a:prstGeom prst="line">
            <a:avLst/>
          </a:prstGeom>
          <a:noFill/>
          <a:ln w="1905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17" name="blocco Tutto il cantiere"/>
          <p:cNvSpPr/>
          <p:nvPr/>
        </p:nvSpPr>
        <p:spPr>
          <a:xfrm>
            <a:off x="4251960" y="4206240"/>
            <a:ext cx="23317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389120" y="42062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Tutto il cantiere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modulo generale, senza luogo</a:t>
            </a:r>
            <a:endParaRPr lang="en-US" sz="1700" dirty="0"/>
          </a:p>
        </p:txBody>
      </p:sp>
      <p:sp>
        <p:nvSpPr>
          <p:cNvPr id="19" name="freccia"/>
          <p:cNvSpPr/>
          <p:nvPr/>
        </p:nvSpPr>
        <p:spPr>
          <a:xfrm>
            <a:off x="6583680" y="4709160"/>
            <a:ext cx="731520" cy="914"/>
          </a:xfrm>
          <a:prstGeom prst="line">
            <a:avLst/>
          </a:prstGeom>
          <a:noFill/>
          <a:ln w="1905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20" name="moduli compilati"/>
          <p:cNvSpPr/>
          <p:nvPr/>
        </p:nvSpPr>
        <p:spPr>
          <a:xfrm>
            <a:off x="7315200" y="1463040"/>
            <a:ext cx="4325112" cy="3749040"/>
          </a:xfrm>
          <a:prstGeom prst="roundRect">
            <a:avLst>
              <a:gd name="adj" fmla="val 2927"/>
            </a:avLst>
          </a:prstGeom>
          <a:solidFill>
            <a:schemeClr val="bg1"/>
          </a:solidFill>
          <a:ln w="19050">
            <a:solidFill>
              <a:srgbClr val="65BC7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0" y="1645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Moduli compilati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2194560"/>
            <a:ext cx="3840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Ogni compilazione sta in uno solo dei tre luoghi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Nasce da un modulo (template) creato dall'amministratore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Ha foto, firma, note per risposta e PDF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Sui pin nascono anche i task da risolvere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Tutti vedono solo i cantieri di cui sono membri; amministratore e ufficio vedono le commesse intere.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ciclo di un controllo</a:t>
            </a:r>
            <a:endParaRPr lang="en-US" sz="3200" dirty="0"/>
          </a:p>
        </p:txBody>
      </p:sp>
      <p:sp>
        <p:nvSpPr>
          <p:cNvPr id="3" name="icona MdEditNote"/>
          <p:cNvSpPr/>
          <p:nvPr/>
        </p:nvSpPr>
        <p:spPr>
          <a:xfrm>
            <a:off x="1109442" y="173736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0610" y="1938528"/>
            <a:ext cx="512064" cy="512064"/>
          </a:xfrm>
          <a:prstGeom prst="rect">
            <a:avLst/>
          </a:prstGeom>
        </p:spPr>
      </p:pic>
      <p:sp>
        <p:nvSpPr>
          <p:cNvPr id="5" name="freccia"/>
          <p:cNvSpPr/>
          <p:nvPr/>
        </p:nvSpPr>
        <p:spPr>
          <a:xfrm>
            <a:off x="2115282" y="2194560"/>
            <a:ext cx="1167323" cy="914"/>
          </a:xfrm>
          <a:prstGeom prst="line">
            <a:avLst/>
          </a:prstGeom>
          <a:noFill/>
          <a:ln w="1905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6" name="numero 1"/>
          <p:cNvSpPr/>
          <p:nvPr/>
        </p:nvSpPr>
        <p:spPr>
          <a:xfrm>
            <a:off x="1374618" y="288036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374618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429000"/>
            <a:ext cx="2036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modulo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931920"/>
            <a:ext cx="185312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L'amministratore lo crea, anche da un PCQ in Word</a:t>
            </a:r>
            <a:endParaRPr lang="en-US" sz="1500" dirty="0"/>
          </a:p>
        </p:txBody>
      </p:sp>
      <p:sp>
        <p:nvSpPr>
          <p:cNvPr id="10" name="icona MdChecklist"/>
          <p:cNvSpPr/>
          <p:nvPr/>
        </p:nvSpPr>
        <p:spPr>
          <a:xfrm>
            <a:off x="3374045" y="173736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213" y="1938528"/>
            <a:ext cx="512064" cy="512064"/>
          </a:xfrm>
          <a:prstGeom prst="rect">
            <a:avLst/>
          </a:prstGeom>
        </p:spPr>
      </p:pic>
      <p:sp>
        <p:nvSpPr>
          <p:cNvPr id="12" name="freccia"/>
          <p:cNvSpPr/>
          <p:nvPr/>
        </p:nvSpPr>
        <p:spPr>
          <a:xfrm>
            <a:off x="4379885" y="2194560"/>
            <a:ext cx="1167323" cy="914"/>
          </a:xfrm>
          <a:prstGeom prst="line">
            <a:avLst/>
          </a:prstGeom>
          <a:noFill/>
          <a:ln w="1905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13" name="numero 2"/>
          <p:cNvSpPr/>
          <p:nvPr/>
        </p:nvSpPr>
        <p:spPr>
          <a:xfrm>
            <a:off x="3639221" y="288036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3639221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2813243" y="3429000"/>
            <a:ext cx="2036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compilazione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2904683" y="3931920"/>
            <a:ext cx="185312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 cantiere, su un pin, una voce WBS o sul cantiere</a:t>
            </a:r>
            <a:endParaRPr lang="en-US" sz="1500" dirty="0"/>
          </a:p>
        </p:txBody>
      </p:sp>
      <p:sp>
        <p:nvSpPr>
          <p:cNvPr id="17" name="icona MdWarning"/>
          <p:cNvSpPr/>
          <p:nvPr/>
        </p:nvSpPr>
        <p:spPr>
          <a:xfrm>
            <a:off x="5638648" y="1737360"/>
            <a:ext cx="914400" cy="9144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816" y="1938528"/>
            <a:ext cx="512064" cy="512064"/>
          </a:xfrm>
          <a:prstGeom prst="rect">
            <a:avLst/>
          </a:prstGeom>
        </p:spPr>
      </p:pic>
      <p:sp>
        <p:nvSpPr>
          <p:cNvPr id="19" name="freccia"/>
          <p:cNvSpPr/>
          <p:nvPr/>
        </p:nvSpPr>
        <p:spPr>
          <a:xfrm>
            <a:off x="6644488" y="2194560"/>
            <a:ext cx="1167323" cy="914"/>
          </a:xfrm>
          <a:prstGeom prst="line">
            <a:avLst/>
          </a:prstGeom>
          <a:noFill/>
          <a:ln w="1905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20" name="numero 3"/>
          <p:cNvSpPr/>
          <p:nvPr/>
        </p:nvSpPr>
        <p:spPr>
          <a:xfrm>
            <a:off x="5903824" y="2880360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5903824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5077846" y="3429000"/>
            <a:ext cx="2036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non conformità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5169286" y="3931920"/>
            <a:ext cx="185312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"Non conforme" propone un task e avvisa l'ufficio</a:t>
            </a:r>
            <a:endParaRPr lang="en-US" sz="1500" dirty="0"/>
          </a:p>
        </p:txBody>
      </p:sp>
      <p:sp>
        <p:nvSpPr>
          <p:cNvPr id="24" name="icona MdBuild"/>
          <p:cNvSpPr/>
          <p:nvPr/>
        </p:nvSpPr>
        <p:spPr>
          <a:xfrm>
            <a:off x="7903251" y="173736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4419" y="1938528"/>
            <a:ext cx="512064" cy="512064"/>
          </a:xfrm>
          <a:prstGeom prst="rect">
            <a:avLst/>
          </a:prstGeom>
        </p:spPr>
      </p:pic>
      <p:sp>
        <p:nvSpPr>
          <p:cNvPr id="26" name="freccia"/>
          <p:cNvSpPr/>
          <p:nvPr/>
        </p:nvSpPr>
        <p:spPr>
          <a:xfrm>
            <a:off x="8909091" y="2194560"/>
            <a:ext cx="1167323" cy="914"/>
          </a:xfrm>
          <a:prstGeom prst="line">
            <a:avLst/>
          </a:prstGeom>
          <a:noFill/>
          <a:ln w="1905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27" name="numero 4"/>
          <p:cNvSpPr/>
          <p:nvPr/>
        </p:nvSpPr>
        <p:spPr>
          <a:xfrm>
            <a:off x="8168427" y="288036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8168427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7342449" y="3429000"/>
            <a:ext cx="2036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correzione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7433889" y="3931920"/>
            <a:ext cx="185312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Il task è assegnato e chi lo riceve lo segna risolto</a:t>
            </a:r>
            <a:endParaRPr lang="en-US" sz="1500" dirty="0"/>
          </a:p>
        </p:txBody>
      </p:sp>
      <p:sp>
        <p:nvSpPr>
          <p:cNvPr id="31" name="icona MdVerified"/>
          <p:cNvSpPr/>
          <p:nvPr/>
        </p:nvSpPr>
        <p:spPr>
          <a:xfrm>
            <a:off x="10167854" y="173736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9022" y="1938528"/>
            <a:ext cx="512064" cy="512064"/>
          </a:xfrm>
          <a:prstGeom prst="rect">
            <a:avLst/>
          </a:prstGeom>
        </p:spPr>
      </p:pic>
      <p:sp>
        <p:nvSpPr>
          <p:cNvPr id="33" name="numero 5"/>
          <p:cNvSpPr/>
          <p:nvPr/>
        </p:nvSpPr>
        <p:spPr>
          <a:xfrm>
            <a:off x="10433030" y="288036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1043303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9607052" y="3429000"/>
            <a:ext cx="2036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verifica</a:t>
            </a:r>
            <a:endParaRPr lang="en-US" sz="1800" dirty="0"/>
          </a:p>
        </p:txBody>
      </p:sp>
      <p:sp>
        <p:nvSpPr>
          <p:cNvPr id="36" name="Text 29"/>
          <p:cNvSpPr txBox="1"/>
          <p:nvPr/>
        </p:nvSpPr>
        <p:spPr>
          <a:xfrm>
            <a:off x="9698492" y="3931920"/>
            <a:ext cx="185312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L'ufficio controlla e chiude come verificato</a:t>
            </a:r>
            <a:endParaRPr lang="en-US" sz="1500" dirty="0"/>
          </a:p>
        </p:txBody>
      </p:sp>
      <p:sp>
        <p:nvSpPr>
          <p:cNvPr id="37" name="consiglio"/>
          <p:cNvSpPr/>
          <p:nvPr/>
        </p:nvSpPr>
        <p:spPr>
          <a:xfrm>
            <a:off x="548640" y="5349240"/>
            <a:ext cx="11094415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pic>
        <p:nvPicPr>
          <p:cNvPr id="38" name="Image 5" descr="Consigli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550408"/>
            <a:ext cx="329184" cy="329184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188720" y="5349240"/>
            <a:ext cx="10271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Consiglio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 notifiche partono da sole: all'assegnatario quando riceve un task, a chi l'ha creato quando è risolto, all'ufficio su ogni non conformità.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 ruoli, tre livelli di accesso</a:t>
            </a:r>
            <a:endParaRPr lang="en-US" sz="3200" dirty="0"/>
          </a:p>
        </p:txBody>
      </p:sp>
      <p:sp>
        <p:nvSpPr>
          <p:cNvPr id="3" name="ruolo Amministratore"/>
          <p:cNvSpPr/>
          <p:nvPr/>
        </p:nvSpPr>
        <p:spPr>
          <a:xfrm>
            <a:off x="548640" y="1463040"/>
            <a:ext cx="3484778" cy="452628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C4577">
                <a:alpha val="18000"/>
              </a:srgbClr>
            </a:outerShdw>
          </a:effectLst>
        </p:spPr>
      </p:sp>
      <p:sp>
        <p:nvSpPr>
          <p:cNvPr id="4" name="icona MdAdminPanelSettings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673" y="1954073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783080"/>
            <a:ext cx="20217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Amministratore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834640"/>
            <a:ext cx="284469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Tutto quello che fa l'ufficio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Crea i moduli (anche da PCQ) e gli utenti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Etichette invito, parametri commessa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Registro operazioni e segnalazioni</a:t>
            </a:r>
            <a:endParaRPr lang="en-US" sz="1500" dirty="0"/>
          </a:p>
        </p:txBody>
      </p:sp>
      <p:sp>
        <p:nvSpPr>
          <p:cNvPr id="8" name="ruolo Ufficio (manager)"/>
          <p:cNvSpPr/>
          <p:nvPr/>
        </p:nvSpPr>
        <p:spPr>
          <a:xfrm>
            <a:off x="4353458" y="1463040"/>
            <a:ext cx="3484778" cy="452628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C4577">
                <a:alpha val="18000"/>
              </a:srgbClr>
            </a:outerShdw>
          </a:effectLst>
        </p:spPr>
      </p:sp>
      <p:sp>
        <p:nvSpPr>
          <p:cNvPr id="9" name="icona MdBusiness"/>
          <p:cNvSpPr/>
          <p:nvPr/>
        </p:nvSpPr>
        <p:spPr>
          <a:xfrm>
            <a:off x="4673498" y="178308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491" y="1954073"/>
            <a:ext cx="435254" cy="43525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87898" y="1783080"/>
            <a:ext cx="20217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Ufficio (manager)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73498" y="2834640"/>
            <a:ext cx="284469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Commesse, cantieri, planimetrie, WBS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Modifica e archivia i moduli esistenti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Assegna e verifica i task, dashboard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Invita le persone con un'etichetta</a:t>
            </a:r>
            <a:endParaRPr lang="en-US" sz="1500" dirty="0"/>
          </a:p>
        </p:txBody>
      </p:sp>
      <p:sp>
        <p:nvSpPr>
          <p:cNvPr id="13" name="ruolo Cantiere"/>
          <p:cNvSpPr/>
          <p:nvPr/>
        </p:nvSpPr>
        <p:spPr>
          <a:xfrm>
            <a:off x="8158277" y="1463040"/>
            <a:ext cx="3484778" cy="452628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C4577">
                <a:alpha val="18000"/>
              </a:srgbClr>
            </a:outerShdw>
          </a:effectLst>
        </p:spPr>
      </p:sp>
      <p:sp>
        <p:nvSpPr>
          <p:cNvPr id="14" name="icona MdEngineering"/>
          <p:cNvSpPr/>
          <p:nvPr/>
        </p:nvSpPr>
        <p:spPr>
          <a:xfrm>
            <a:off x="8478317" y="178308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9310" y="1954073"/>
            <a:ext cx="435254" cy="43525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392717" y="1783080"/>
            <a:ext cx="20217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Cantiere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78317" y="2834640"/>
            <a:ext cx="284469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Lavora solo nei cantieri di cui è membro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Aggiunge pin e compila i moduli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Prende in carico e risolve i task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Usa l'app anche senza rete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per l'ufficio, app per il cantiere</a:t>
            </a:r>
            <a:endParaRPr lang="en-US" sz="3200" dirty="0"/>
          </a:p>
        </p:txBody>
      </p:sp>
      <p:sp>
        <p:nvSpPr>
          <p:cNvPr id="3" name="icona MdComputer"/>
          <p:cNvSpPr/>
          <p:nvPr/>
        </p:nvSpPr>
        <p:spPr>
          <a:xfrm>
            <a:off x="548640" y="150876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574" y="1669694"/>
            <a:ext cx="409651" cy="4096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5087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46888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Tutte le funzioni, per tutti i ruoli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Moduli generali e su voce WBS (solo web)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Dashboard, moduli, PCQ, amministrazione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 apre da qualsiasi browser, senza installare</a:t>
            </a:r>
            <a:endParaRPr lang="en-US" sz="1500" dirty="0"/>
          </a:p>
        </p:txBody>
      </p:sp>
      <p:sp>
        <p:nvSpPr>
          <p:cNvPr id="7" name="icona MdPhoneAndroid"/>
          <p:cNvSpPr/>
          <p:nvPr/>
        </p:nvSpPr>
        <p:spPr>
          <a:xfrm>
            <a:off x="6355080" y="15087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014" y="1669694"/>
            <a:ext cx="409651" cy="40965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269480" y="15087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Android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6355080" y="246888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Planimetrie, pin, moduli e task del cantiere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Foto dalla fotocamera, firma con il dito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Funziona offline: invia tutto appena c'è rete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 installa dal link che gira l'ufficio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4800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barra in alto nell'app</a:t>
            </a:r>
            <a:endParaRPr lang="en-US" sz="1600" dirty="0"/>
          </a:p>
        </p:txBody>
      </p:sp>
      <p:sp>
        <p:nvSpPr>
          <p:cNvPr id="12" name="stato Sync 10:32"/>
          <p:cNvSpPr/>
          <p:nvPr/>
        </p:nvSpPr>
        <p:spPr>
          <a:xfrm>
            <a:off x="548640" y="5257800"/>
            <a:ext cx="2602154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3" name="Shape 9"/>
          <p:cNvSpPr/>
          <p:nvPr/>
        </p:nvSpPr>
        <p:spPr>
          <a:xfrm>
            <a:off x="731520" y="5541264"/>
            <a:ext cx="201168" cy="201168"/>
          </a:xfrm>
          <a:prstGeom prst="ellipse">
            <a:avLst/>
          </a:prstGeom>
          <a:solidFill>
            <a:srgbClr val="65BC7B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1051560" y="5257800"/>
            <a:ext cx="20077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Sync 10:32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tutto inviato</a:t>
            </a:r>
            <a:endParaRPr lang="en-US" sz="1400" dirty="0"/>
          </a:p>
        </p:txBody>
      </p:sp>
      <p:sp>
        <p:nvSpPr>
          <p:cNvPr id="15" name="stato 3 in attesa"/>
          <p:cNvSpPr/>
          <p:nvPr/>
        </p:nvSpPr>
        <p:spPr>
          <a:xfrm>
            <a:off x="3379394" y="5257800"/>
            <a:ext cx="2602154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6" name="Shape 12"/>
          <p:cNvSpPr/>
          <p:nvPr/>
        </p:nvSpPr>
        <p:spPr>
          <a:xfrm>
            <a:off x="3562274" y="5541264"/>
            <a:ext cx="201168" cy="201168"/>
          </a:xfrm>
          <a:prstGeom prst="ellipse">
            <a:avLst/>
          </a:prstGeom>
          <a:solidFill>
            <a:srgbClr val="E39B2D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3882314" y="5257800"/>
            <a:ext cx="20077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 in attesa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parte con la rete</a:t>
            </a:r>
            <a:endParaRPr lang="en-US" sz="1400" dirty="0"/>
          </a:p>
        </p:txBody>
      </p:sp>
      <p:sp>
        <p:nvSpPr>
          <p:cNvPr id="18" name="stato Offline"/>
          <p:cNvSpPr/>
          <p:nvPr/>
        </p:nvSpPr>
        <p:spPr>
          <a:xfrm>
            <a:off x="6210148" y="5257800"/>
            <a:ext cx="2602154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9" name="Shape 15"/>
          <p:cNvSpPr/>
          <p:nvPr/>
        </p:nvSpPr>
        <p:spPr>
          <a:xfrm>
            <a:off x="6393028" y="5541264"/>
            <a:ext cx="201168" cy="201168"/>
          </a:xfrm>
          <a:prstGeom prst="ellipse">
            <a:avLst/>
          </a:prstGeom>
          <a:solidFill>
            <a:srgbClr val="8A94A3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713068" y="5257800"/>
            <a:ext cx="20077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Offline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continua a lavorare</a:t>
            </a:r>
            <a:endParaRPr lang="en-US" sz="1400" dirty="0"/>
          </a:p>
        </p:txBody>
      </p:sp>
      <p:sp>
        <p:nvSpPr>
          <p:cNvPr id="21" name="stato ⚠ problemi"/>
          <p:cNvSpPr/>
          <p:nvPr/>
        </p:nvSpPr>
        <p:spPr>
          <a:xfrm>
            <a:off x="9040901" y="5257800"/>
            <a:ext cx="2602154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22" name="Shape 18"/>
          <p:cNvSpPr/>
          <p:nvPr/>
        </p:nvSpPr>
        <p:spPr>
          <a:xfrm>
            <a:off x="9223781" y="5541264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9543821" y="5257800"/>
            <a:ext cx="20077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⚠ problemi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tocca: Riprova o Scarta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e task: i colori da conoscere</a:t>
            </a:r>
            <a:endParaRPr lang="en-US" sz="3200" dirty="0"/>
          </a:p>
        </p:txBody>
      </p:sp>
      <p:pic>
        <p:nvPicPr>
          <p:cNvPr id="3" name="Image 0" descr="Pin Task aper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8580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14813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aperto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3840480" y="148132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C'è un lavoro da fare, non ancora assegnato</a:t>
            </a:r>
            <a:endParaRPr lang="en-US" sz="1500" dirty="0"/>
          </a:p>
        </p:txBody>
      </p:sp>
      <p:pic>
        <p:nvPicPr>
          <p:cNvPr id="6" name="Image 1" descr="Pin Assegna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31720"/>
            <a:ext cx="685800" cy="6858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17320" y="23500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Assegnato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3840480" y="23500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Qualcuno l'ha preso in carico</a:t>
            </a:r>
            <a:endParaRPr lang="en-US" sz="1500" dirty="0"/>
          </a:p>
        </p:txBody>
      </p:sp>
      <p:pic>
        <p:nvPicPr>
          <p:cNvPr id="9" name="Image 2" descr="Pin Risolt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0"/>
            <a:ext cx="685800" cy="6858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417320" y="32186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Risolto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3840480" y="321868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Chi doveva intervenire ha finito</a:t>
            </a:r>
            <a:endParaRPr lang="en-US" sz="1500" dirty="0"/>
          </a:p>
        </p:txBody>
      </p:sp>
      <p:pic>
        <p:nvPicPr>
          <p:cNvPr id="12" name="Image 3" descr="Pin Verificat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69080"/>
            <a:ext cx="685800" cy="6858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417320" y="40873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Verificato</a:t>
            </a:r>
            <a:endParaRPr lang="en-US" sz="1800" dirty="0"/>
          </a:p>
        </p:txBody>
      </p:sp>
      <p:sp>
        <p:nvSpPr>
          <p:cNvPr id="14" name="Text 8"/>
          <p:cNvSpPr txBox="1"/>
          <p:nvPr/>
        </p:nvSpPr>
        <p:spPr>
          <a:xfrm>
            <a:off x="3840480" y="40873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L'ufficio ha controllato e chiuso</a:t>
            </a:r>
            <a:endParaRPr lang="en-US" sz="1500" dirty="0"/>
          </a:p>
        </p:txBody>
      </p:sp>
      <p:pic>
        <p:nvPicPr>
          <p:cNvPr id="15" name="Image 4" descr="Pin Solo modul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937760"/>
            <a:ext cx="685800" cy="6858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417320" y="49560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moduli</a:t>
            </a:r>
            <a:endParaRPr lang="en-US" sz="1800" dirty="0"/>
          </a:p>
        </p:txBody>
      </p:sp>
      <p:sp>
        <p:nvSpPr>
          <p:cNvPr id="17" name="Text 10"/>
          <p:cNvSpPr txBox="1"/>
          <p:nvPr/>
        </p:nvSpPr>
        <p:spPr>
          <a:xfrm>
            <a:off x="3840480" y="49560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Sul punto ci sono moduli, nessun task</a:t>
            </a:r>
            <a:endParaRPr lang="en-US" sz="1500" dirty="0"/>
          </a:p>
        </p:txBody>
      </p:sp>
      <p:sp>
        <p:nvSpPr>
          <p:cNvPr id="18" name="stati del task"/>
          <p:cNvSpPr/>
          <p:nvPr/>
        </p:nvSpPr>
        <p:spPr>
          <a:xfrm>
            <a:off x="7315200" y="1463040"/>
            <a:ext cx="4325112" cy="425196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/>
        </p:spPr>
      </p:sp>
      <p:sp>
        <p:nvSpPr>
          <p:cNvPr id="19" name="Text 12"/>
          <p:cNvSpPr txBox="1"/>
          <p:nvPr/>
        </p:nvSpPr>
        <p:spPr>
          <a:xfrm>
            <a:off x="763524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 stati di un task</a:t>
            </a:r>
            <a:endParaRPr lang="en-US" sz="1800" dirty="0"/>
          </a:p>
        </p:txBody>
      </p:sp>
      <p:sp>
        <p:nvSpPr>
          <p:cNvPr id="20" name="stato Aperto"/>
          <p:cNvSpPr/>
          <p:nvPr/>
        </p:nvSpPr>
        <p:spPr>
          <a:xfrm>
            <a:off x="8001000" y="2286000"/>
            <a:ext cx="2926080" cy="54864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1" name="Text 14"/>
          <p:cNvSpPr txBox="1"/>
          <p:nvPr/>
        </p:nvSpPr>
        <p:spPr>
          <a:xfrm>
            <a:off x="8001000" y="2286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Aperto</a:t>
            </a:r>
            <a:endParaRPr lang="en-US" sz="1600" dirty="0"/>
          </a:p>
        </p:txBody>
      </p:sp>
      <p:sp>
        <p:nvSpPr>
          <p:cNvPr id="22" name="freccia"/>
          <p:cNvSpPr/>
          <p:nvPr/>
        </p:nvSpPr>
        <p:spPr>
          <a:xfrm>
            <a:off x="9464040" y="2834640"/>
            <a:ext cx="914" cy="292608"/>
          </a:xfrm>
          <a:prstGeom prst="line">
            <a:avLst/>
          </a:prstGeom>
          <a:noFill/>
          <a:ln w="1905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23" name="stato Assegnato"/>
          <p:cNvSpPr/>
          <p:nvPr/>
        </p:nvSpPr>
        <p:spPr>
          <a:xfrm>
            <a:off x="8001000" y="3127248"/>
            <a:ext cx="2926080" cy="548640"/>
          </a:xfrm>
          <a:prstGeom prst="roundRect">
            <a:avLst>
              <a:gd name="adj" fmla="val 50000"/>
            </a:avLst>
          </a:prstGeom>
          <a:solidFill>
            <a:srgbClr val="E39B2D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8001000" y="31272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Assegnato</a:t>
            </a:r>
            <a:endParaRPr lang="en-US" sz="1600" dirty="0"/>
          </a:p>
        </p:txBody>
      </p:sp>
      <p:sp>
        <p:nvSpPr>
          <p:cNvPr id="25" name="freccia"/>
          <p:cNvSpPr/>
          <p:nvPr/>
        </p:nvSpPr>
        <p:spPr>
          <a:xfrm>
            <a:off x="9464040" y="3675888"/>
            <a:ext cx="914" cy="292608"/>
          </a:xfrm>
          <a:prstGeom prst="line">
            <a:avLst/>
          </a:prstGeom>
          <a:noFill/>
          <a:ln w="1905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26" name="stato Risolto"/>
          <p:cNvSpPr/>
          <p:nvPr/>
        </p:nvSpPr>
        <p:spPr>
          <a:xfrm>
            <a:off x="8001000" y="3968496"/>
            <a:ext cx="2926080" cy="548640"/>
          </a:xfrm>
          <a:prstGeom prst="roundRect">
            <a:avLst>
              <a:gd name="adj" fmla="val 50000"/>
            </a:avLst>
          </a:prstGeom>
          <a:solidFill>
            <a:srgbClr val="65BC7B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8001000" y="396849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Risolto</a:t>
            </a:r>
            <a:endParaRPr lang="en-US" sz="1600" dirty="0"/>
          </a:p>
        </p:txBody>
      </p:sp>
      <p:sp>
        <p:nvSpPr>
          <p:cNvPr id="28" name="freccia"/>
          <p:cNvSpPr/>
          <p:nvPr/>
        </p:nvSpPr>
        <p:spPr>
          <a:xfrm>
            <a:off x="9464040" y="4517136"/>
            <a:ext cx="914" cy="292608"/>
          </a:xfrm>
          <a:prstGeom prst="line">
            <a:avLst/>
          </a:prstGeom>
          <a:noFill/>
          <a:ln w="1905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29" name="stato Verificato"/>
          <p:cNvSpPr/>
          <p:nvPr/>
        </p:nvSpPr>
        <p:spPr>
          <a:xfrm>
            <a:off x="8001000" y="4809744"/>
            <a:ext cx="2926080" cy="548640"/>
          </a:xfrm>
          <a:prstGeom prst="roundRect">
            <a:avLst>
              <a:gd name="adj" fmla="val 50000"/>
            </a:avLst>
          </a:prstGeom>
          <a:solidFill>
            <a:srgbClr val="9AA3AF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8001000" y="480974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Verificato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5544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Lavoro in cantiere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7490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Dall'accesso alla dashboard: le funzioni di tutti i giorni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Accesso</a:t>
            </a:r>
            <a:endParaRPr lang="en-US" sz="3200" dirty="0"/>
          </a:p>
        </p:txBody>
      </p:sp>
      <p:sp>
        <p:nvSpPr>
          <p:cNvPr id="3" name="cornice schermata"/>
          <p:cNvSpPr/>
          <p:nvPr/>
        </p:nvSpPr>
        <p:spPr>
          <a:xfrm>
            <a:off x="512064" y="1243584"/>
            <a:ext cx="7159752" cy="4059365"/>
          </a:xfrm>
          <a:prstGeom prst="rect">
            <a:avLst/>
          </a:prstGeom>
          <a:solidFill>
            <a:schemeClr val="bg1"/>
          </a:solidFill>
          <a:ln w="9525">
            <a:solidFill>
              <a:srgbClr val="D3D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C4577">
                <a:alpha val="18000"/>
              </a:srgbClr>
            </a:outerShdw>
          </a:effectLst>
        </p:spPr>
      </p:sp>
      <p:pic>
        <p:nvPicPr>
          <p:cNvPr id="4" name="schermata" descr="Schermata di InCampo: log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086600" cy="3986213"/>
          </a:xfrm>
          <a:prstGeom prst="rect">
            <a:avLst/>
          </a:prstGeom>
        </p:spPr>
      </p:pic>
      <p:sp>
        <p:nvSpPr>
          <p:cNvPr id="5" name="chi lo usa"/>
          <p:cNvSpPr/>
          <p:nvPr/>
        </p:nvSpPr>
        <p:spPr>
          <a:xfrm>
            <a:off x="8046720" y="1280160"/>
            <a:ext cx="3596335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11312" y="1280160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Chi: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tutti</a:t>
            </a:r>
            <a:endParaRPr lang="en-US" sz="1300" dirty="0"/>
          </a:p>
        </p:txBody>
      </p:sp>
      <p:sp>
        <p:nvSpPr>
          <p:cNvPr id="7" name="numero 1"/>
          <p:cNvSpPr/>
          <p:nvPr/>
        </p:nvSpPr>
        <p:spPr>
          <a:xfrm>
            <a:off x="8046720" y="196596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467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passo 1"/>
          <p:cNvSpPr txBox="1"/>
          <p:nvPr/>
        </p:nvSpPr>
        <p:spPr>
          <a:xfrm>
            <a:off x="8577072" y="191109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Apri l'indirizzo di InCampo nel browser, o l'app sul telefono</a:t>
            </a:r>
            <a:endParaRPr lang="en-US" sz="1400" dirty="0"/>
          </a:p>
        </p:txBody>
      </p:sp>
      <p:sp>
        <p:nvSpPr>
          <p:cNvPr id="10" name="numero 2"/>
          <p:cNvSpPr/>
          <p:nvPr/>
        </p:nvSpPr>
        <p:spPr>
          <a:xfrm>
            <a:off x="8046720" y="27889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04672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passo 2"/>
          <p:cNvSpPr txBox="1"/>
          <p:nvPr/>
        </p:nvSpPr>
        <p:spPr>
          <a:xfrm>
            <a:off x="8577072" y="273405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Inserisci email o nome utente e la password</a:t>
            </a:r>
            <a:endParaRPr lang="en-US" sz="1400" dirty="0"/>
          </a:p>
        </p:txBody>
      </p:sp>
      <p:sp>
        <p:nvSpPr>
          <p:cNvPr id="13" name="numero 3"/>
          <p:cNvSpPr/>
          <p:nvPr/>
        </p:nvSpPr>
        <p:spPr>
          <a:xfrm>
            <a:off x="8046720" y="36118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passo 3"/>
          <p:cNvSpPr txBox="1"/>
          <p:nvPr/>
        </p:nvSpPr>
        <p:spPr>
          <a:xfrm>
            <a:off x="8577072" y="355701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Primo accesso: apri il link d'invito ricevuto e scegli nome e password</a:t>
            </a:r>
            <a:endParaRPr lang="en-US" sz="1400" dirty="0"/>
          </a:p>
        </p:txBody>
      </p:sp>
      <p:sp>
        <p:nvSpPr>
          <p:cNvPr id="16" name="numero 4"/>
          <p:cNvSpPr/>
          <p:nvPr/>
        </p:nvSpPr>
        <p:spPr>
          <a:xfrm>
            <a:off x="8046720" y="44348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4672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passo 4"/>
          <p:cNvSpPr txBox="1"/>
          <p:nvPr/>
        </p:nvSpPr>
        <p:spPr>
          <a:xfrm>
            <a:off x="8577072" y="437997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 uscire usa "Esci" in basso nel menu</a:t>
            </a:r>
            <a:endParaRPr lang="en-US" sz="1400" dirty="0"/>
          </a:p>
        </p:txBody>
      </p:sp>
      <p:sp>
        <p:nvSpPr>
          <p:cNvPr id="19" name="consiglio"/>
          <p:cNvSpPr/>
          <p:nvPr/>
        </p:nvSpPr>
        <p:spPr>
          <a:xfrm>
            <a:off x="548640" y="5540693"/>
            <a:ext cx="11094415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pic>
        <p:nvPicPr>
          <p:cNvPr id="20" name="Image 1" descr="Consigl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05285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188720" y="5540693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Consiglio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dopo troppi tentativi sbagliati l'accesso si blocca per qualche minuto: aspetta e riprova, o chiedi il reset della password.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Progetti: commesse e cantieri</a:t>
            </a:r>
            <a:endParaRPr lang="en-US" sz="3200" dirty="0"/>
          </a:p>
        </p:txBody>
      </p:sp>
      <p:sp>
        <p:nvSpPr>
          <p:cNvPr id="3" name="cornice schermata"/>
          <p:cNvSpPr/>
          <p:nvPr/>
        </p:nvSpPr>
        <p:spPr>
          <a:xfrm>
            <a:off x="512064" y="1243584"/>
            <a:ext cx="7159752" cy="4059365"/>
          </a:xfrm>
          <a:prstGeom prst="rect">
            <a:avLst/>
          </a:prstGeom>
          <a:solidFill>
            <a:schemeClr val="bg1"/>
          </a:solidFill>
          <a:ln w="9525">
            <a:solidFill>
              <a:srgbClr val="D3D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C4577">
                <a:alpha val="18000"/>
              </a:srgbClr>
            </a:outerShdw>
          </a:effectLst>
        </p:spPr>
      </p:sp>
      <p:pic>
        <p:nvPicPr>
          <p:cNvPr id="4" name="schermata" descr="Schermata di InCampo: progett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086600" cy="3986213"/>
          </a:xfrm>
          <a:prstGeom prst="rect">
            <a:avLst/>
          </a:prstGeom>
        </p:spPr>
      </p:pic>
      <p:sp>
        <p:nvSpPr>
          <p:cNvPr id="5" name="chi lo usa"/>
          <p:cNvSpPr/>
          <p:nvPr/>
        </p:nvSpPr>
        <p:spPr>
          <a:xfrm>
            <a:off x="8046720" y="1280160"/>
            <a:ext cx="3596335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11312" y="1280160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Chi: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tutti (crea: ufficio)</a:t>
            </a:r>
            <a:endParaRPr lang="en-US" sz="1300" dirty="0"/>
          </a:p>
        </p:txBody>
      </p:sp>
      <p:sp>
        <p:nvSpPr>
          <p:cNvPr id="7" name="numero 1"/>
          <p:cNvSpPr/>
          <p:nvPr/>
        </p:nvSpPr>
        <p:spPr>
          <a:xfrm>
            <a:off x="8046720" y="196596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467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passo 1"/>
          <p:cNvSpPr txBox="1"/>
          <p:nvPr/>
        </p:nvSpPr>
        <p:spPr>
          <a:xfrm>
            <a:off x="8577072" y="191109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 alto scegli la commessa, poi il cantiere</a:t>
            </a:r>
            <a:endParaRPr lang="en-US" sz="1400" dirty="0"/>
          </a:p>
        </p:txBody>
      </p:sp>
      <p:sp>
        <p:nvSpPr>
          <p:cNvPr id="10" name="numero 2"/>
          <p:cNvSpPr/>
          <p:nvPr/>
        </p:nvSpPr>
        <p:spPr>
          <a:xfrm>
            <a:off x="8046720" y="27889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04672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passo 2"/>
          <p:cNvSpPr txBox="1"/>
          <p:nvPr/>
        </p:nvSpPr>
        <p:spPr>
          <a:xfrm>
            <a:off x="8577072" y="273405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 Progetti i cantieri sono raggruppati per commessa</a:t>
            </a:r>
            <a:endParaRPr lang="en-US" sz="1400" dirty="0"/>
          </a:p>
        </p:txBody>
      </p:sp>
      <p:sp>
        <p:nvSpPr>
          <p:cNvPr id="13" name="numero 3"/>
          <p:cNvSpPr/>
          <p:nvPr/>
        </p:nvSpPr>
        <p:spPr>
          <a:xfrm>
            <a:off x="8046720" y="36118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passo 3"/>
          <p:cNvSpPr txBox="1"/>
          <p:nvPr/>
        </p:nvSpPr>
        <p:spPr>
          <a:xfrm>
            <a:off x="8577072" y="355701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Filtra per parametri, es. tipologia lavori o procedura</a:t>
            </a:r>
            <a:endParaRPr lang="en-US" sz="1400" dirty="0"/>
          </a:p>
        </p:txBody>
      </p:sp>
      <p:sp>
        <p:nvSpPr>
          <p:cNvPr id="16" name="numero 4"/>
          <p:cNvSpPr/>
          <p:nvPr/>
        </p:nvSpPr>
        <p:spPr>
          <a:xfrm>
            <a:off x="8046720" y="44348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4672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passo 4"/>
          <p:cNvSpPr txBox="1"/>
          <p:nvPr/>
        </p:nvSpPr>
        <p:spPr>
          <a:xfrm>
            <a:off x="8577072" y="437997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Ufficio: "+ Nuova commessa" e "+ Cantiere"</a:t>
            </a:r>
            <a:endParaRPr lang="en-US" sz="1400" dirty="0"/>
          </a:p>
        </p:txBody>
      </p:sp>
      <p:sp>
        <p:nvSpPr>
          <p:cNvPr id="19" name="consiglio"/>
          <p:cNvSpPr/>
          <p:nvPr/>
        </p:nvSpPr>
        <p:spPr>
          <a:xfrm>
            <a:off x="548640" y="5540693"/>
            <a:ext cx="11094415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pic>
        <p:nvPicPr>
          <p:cNvPr id="20" name="Image 1" descr="Consigl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05285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188720" y="5540693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Consiglio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cambiando cantiere dalla barra in alto resti nella stessa sezione (task, dashboard…).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Planimetrie e pin</a:t>
            </a:r>
            <a:endParaRPr lang="en-US" sz="3200" dirty="0"/>
          </a:p>
        </p:txBody>
      </p:sp>
      <p:sp>
        <p:nvSpPr>
          <p:cNvPr id="3" name="cornice schermata"/>
          <p:cNvSpPr/>
          <p:nvPr/>
        </p:nvSpPr>
        <p:spPr>
          <a:xfrm>
            <a:off x="512064" y="1243584"/>
            <a:ext cx="7159752" cy="4059365"/>
          </a:xfrm>
          <a:prstGeom prst="rect">
            <a:avLst/>
          </a:prstGeom>
          <a:solidFill>
            <a:schemeClr val="bg1"/>
          </a:solidFill>
          <a:ln w="9525">
            <a:solidFill>
              <a:srgbClr val="D3D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C4577">
                <a:alpha val="18000"/>
              </a:srgbClr>
            </a:outerShdw>
          </a:effectLst>
        </p:spPr>
      </p:sp>
      <p:pic>
        <p:nvPicPr>
          <p:cNvPr id="4" name="schermata" descr="Schermata di InCampo: planimetr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086600" cy="3986213"/>
          </a:xfrm>
          <a:prstGeom prst="rect">
            <a:avLst/>
          </a:prstGeom>
        </p:spPr>
      </p:pic>
      <p:sp>
        <p:nvSpPr>
          <p:cNvPr id="5" name="chi lo usa"/>
          <p:cNvSpPr/>
          <p:nvPr/>
        </p:nvSpPr>
        <p:spPr>
          <a:xfrm>
            <a:off x="8046720" y="1280160"/>
            <a:ext cx="3596335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11312" y="1280160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Chi: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tutti (carica tavole: ufficio)</a:t>
            </a:r>
            <a:endParaRPr lang="en-US" sz="1300" dirty="0"/>
          </a:p>
        </p:txBody>
      </p:sp>
      <p:sp>
        <p:nvSpPr>
          <p:cNvPr id="7" name="numero 1"/>
          <p:cNvSpPr/>
          <p:nvPr/>
        </p:nvSpPr>
        <p:spPr>
          <a:xfrm>
            <a:off x="8046720" y="196596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467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passo 1"/>
          <p:cNvSpPr txBox="1"/>
          <p:nvPr/>
        </p:nvSpPr>
        <p:spPr>
          <a:xfrm>
            <a:off x="8577072" y="191109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Planimetrie: apri la tavola del cantiere</a:t>
            </a:r>
            <a:endParaRPr lang="en-US" sz="1400" dirty="0"/>
          </a:p>
        </p:txBody>
      </p:sp>
      <p:sp>
        <p:nvSpPr>
          <p:cNvPr id="10" name="numero 2"/>
          <p:cNvSpPr/>
          <p:nvPr/>
        </p:nvSpPr>
        <p:spPr>
          <a:xfrm>
            <a:off x="8046720" y="27889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04672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passo 2"/>
          <p:cNvSpPr txBox="1"/>
          <p:nvPr/>
        </p:nvSpPr>
        <p:spPr>
          <a:xfrm>
            <a:off x="8577072" y="273405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Zoom con rotella o pizzico, trascina per spostarti</a:t>
            </a:r>
            <a:endParaRPr lang="en-US" sz="1400" dirty="0"/>
          </a:p>
        </p:txBody>
      </p:sp>
      <p:sp>
        <p:nvSpPr>
          <p:cNvPr id="13" name="numero 3"/>
          <p:cNvSpPr/>
          <p:nvPr/>
        </p:nvSpPr>
        <p:spPr>
          <a:xfrm>
            <a:off x="8046720" y="36118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passo 3"/>
          <p:cNvSpPr txBox="1"/>
          <p:nvPr/>
        </p:nvSpPr>
        <p:spPr>
          <a:xfrm>
            <a:off x="8577072" y="355701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Filtra i pin per stato, modulo, assegnatario e periodo</a:t>
            </a:r>
            <a:endParaRPr lang="en-US" sz="1400" dirty="0"/>
          </a:p>
        </p:txBody>
      </p:sp>
      <p:sp>
        <p:nvSpPr>
          <p:cNvPr id="16" name="numero 4"/>
          <p:cNvSpPr/>
          <p:nvPr/>
        </p:nvSpPr>
        <p:spPr>
          <a:xfrm>
            <a:off x="8046720" y="44348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4672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passo 4"/>
          <p:cNvSpPr txBox="1"/>
          <p:nvPr/>
        </p:nvSpPr>
        <p:spPr>
          <a:xfrm>
            <a:off x="8577072" y="437997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"+ Aggiungi pin" sul web, o tieni premuto nell'app</a:t>
            </a:r>
            <a:endParaRPr lang="en-US" sz="1400" dirty="0"/>
          </a:p>
        </p:txBody>
      </p:sp>
      <p:sp>
        <p:nvSpPr>
          <p:cNvPr id="19" name="consiglio"/>
          <p:cNvSpPr/>
          <p:nvPr/>
        </p:nvSpPr>
        <p:spPr>
          <a:xfrm>
            <a:off x="548640" y="5540693"/>
            <a:ext cx="11094415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pic>
        <p:nvPicPr>
          <p:cNvPr id="20" name="Image 1" descr="Consigl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05285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188720" y="5540693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Consiglio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l'ufficio carica le tavole in PNG, JPG o PDF: del PDF si usa la prima pagina.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pannello del pin</a:t>
            </a:r>
            <a:endParaRPr lang="en-US" sz="3200" dirty="0"/>
          </a:p>
        </p:txBody>
      </p:sp>
      <p:sp>
        <p:nvSpPr>
          <p:cNvPr id="3" name="cornice schermata"/>
          <p:cNvSpPr/>
          <p:nvPr/>
        </p:nvSpPr>
        <p:spPr>
          <a:xfrm>
            <a:off x="512064" y="1243584"/>
            <a:ext cx="7159752" cy="4059365"/>
          </a:xfrm>
          <a:prstGeom prst="rect">
            <a:avLst/>
          </a:prstGeom>
          <a:solidFill>
            <a:schemeClr val="bg1"/>
          </a:solidFill>
          <a:ln w="9525">
            <a:solidFill>
              <a:srgbClr val="D3D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C4577">
                <a:alpha val="18000"/>
              </a:srgbClr>
            </a:outerShdw>
          </a:effectLst>
        </p:spPr>
      </p:sp>
      <p:pic>
        <p:nvPicPr>
          <p:cNvPr id="4" name="schermata" descr="Schermata di InCampo: pin pannel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086600" cy="3986213"/>
          </a:xfrm>
          <a:prstGeom prst="rect">
            <a:avLst/>
          </a:prstGeom>
        </p:spPr>
      </p:pic>
      <p:sp>
        <p:nvSpPr>
          <p:cNvPr id="5" name="chi lo usa"/>
          <p:cNvSpPr/>
          <p:nvPr/>
        </p:nvSpPr>
        <p:spPr>
          <a:xfrm>
            <a:off x="8046720" y="1280160"/>
            <a:ext cx="3596335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11312" y="1280160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Chi: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tutti</a:t>
            </a:r>
            <a:endParaRPr lang="en-US" sz="1300" dirty="0"/>
          </a:p>
        </p:txBody>
      </p:sp>
      <p:sp>
        <p:nvSpPr>
          <p:cNvPr id="7" name="numero 1"/>
          <p:cNvSpPr/>
          <p:nvPr/>
        </p:nvSpPr>
        <p:spPr>
          <a:xfrm>
            <a:off x="8046720" y="196596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467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passo 1"/>
          <p:cNvSpPr txBox="1"/>
          <p:nvPr/>
        </p:nvSpPr>
        <p:spPr>
          <a:xfrm>
            <a:off x="8577072" y="191109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Clic su un pin: si apre il pannello a destra</a:t>
            </a:r>
            <a:endParaRPr lang="en-US" sz="1400" dirty="0"/>
          </a:p>
        </p:txBody>
      </p:sp>
      <p:sp>
        <p:nvSpPr>
          <p:cNvPr id="10" name="numero 2"/>
          <p:cNvSpPr/>
          <p:nvPr/>
        </p:nvSpPr>
        <p:spPr>
          <a:xfrm>
            <a:off x="8046720" y="27889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04672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passo 2"/>
          <p:cNvSpPr txBox="1"/>
          <p:nvPr/>
        </p:nvSpPr>
        <p:spPr>
          <a:xfrm>
            <a:off x="8577072" y="273405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Vedi moduli compilati, task e foto del punto</a:t>
            </a:r>
            <a:endParaRPr lang="en-US" sz="1400" dirty="0"/>
          </a:p>
        </p:txBody>
      </p:sp>
      <p:sp>
        <p:nvSpPr>
          <p:cNvPr id="13" name="numero 3"/>
          <p:cNvSpPr/>
          <p:nvPr/>
        </p:nvSpPr>
        <p:spPr>
          <a:xfrm>
            <a:off x="8046720" y="36118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passo 3"/>
          <p:cNvSpPr txBox="1"/>
          <p:nvPr/>
        </p:nvSpPr>
        <p:spPr>
          <a:xfrm>
            <a:off x="8577072" y="355701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"+ Compila modulo" per registrare un controllo lì</a:t>
            </a:r>
            <a:endParaRPr lang="en-US" sz="1400" dirty="0"/>
          </a:p>
        </p:txBody>
      </p:sp>
      <p:sp>
        <p:nvSpPr>
          <p:cNvPr id="16" name="numero 4"/>
          <p:cNvSpPr/>
          <p:nvPr/>
        </p:nvSpPr>
        <p:spPr>
          <a:xfrm>
            <a:off x="8046720" y="44348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4672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passo 4"/>
          <p:cNvSpPr txBox="1"/>
          <p:nvPr/>
        </p:nvSpPr>
        <p:spPr>
          <a:xfrm>
            <a:off x="8577072" y="437997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"+ Nuovo task" per un lavoro da fare su quel punto</a:t>
            </a:r>
            <a:endParaRPr lang="en-US" sz="1400" dirty="0"/>
          </a:p>
        </p:txBody>
      </p:sp>
      <p:sp>
        <p:nvSpPr>
          <p:cNvPr id="19" name="consiglio"/>
          <p:cNvSpPr/>
          <p:nvPr/>
        </p:nvSpPr>
        <p:spPr>
          <a:xfrm>
            <a:off x="548640" y="5540693"/>
            <a:ext cx="11094415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pic>
        <p:nvPicPr>
          <p:cNvPr id="20" name="Image 1" descr="Consigl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05285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188720" y="5540693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Consiglio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dai al pin un nome riconoscibile, es. "Quadro elettrico": lo ritrovi nelle liste e nei PDF.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WBS del cantiere</a:t>
            </a:r>
            <a:endParaRPr lang="en-US" sz="3200" dirty="0"/>
          </a:p>
        </p:txBody>
      </p:sp>
      <p:sp>
        <p:nvSpPr>
          <p:cNvPr id="3" name="cornice schermata"/>
          <p:cNvSpPr/>
          <p:nvPr/>
        </p:nvSpPr>
        <p:spPr>
          <a:xfrm>
            <a:off x="512064" y="1243584"/>
            <a:ext cx="7159752" cy="4059365"/>
          </a:xfrm>
          <a:prstGeom prst="rect">
            <a:avLst/>
          </a:prstGeom>
          <a:solidFill>
            <a:schemeClr val="bg1"/>
          </a:solidFill>
          <a:ln w="9525">
            <a:solidFill>
              <a:srgbClr val="D3D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C4577">
                <a:alpha val="18000"/>
              </a:srgbClr>
            </a:outerShdw>
          </a:effectLst>
        </p:spPr>
      </p:sp>
      <p:pic>
        <p:nvPicPr>
          <p:cNvPr id="4" name="schermata" descr="Schermata di InCampo: wb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086600" cy="3986213"/>
          </a:xfrm>
          <a:prstGeom prst="rect">
            <a:avLst/>
          </a:prstGeom>
        </p:spPr>
      </p:pic>
      <p:sp>
        <p:nvSpPr>
          <p:cNvPr id="5" name="chi lo usa"/>
          <p:cNvSpPr/>
          <p:nvPr/>
        </p:nvSpPr>
        <p:spPr>
          <a:xfrm>
            <a:off x="8046720" y="1280160"/>
            <a:ext cx="3596335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11312" y="1280160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Chi: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tutti (crea voci: ufficio)</a:t>
            </a:r>
            <a:endParaRPr lang="en-US" sz="1300" dirty="0"/>
          </a:p>
        </p:txBody>
      </p:sp>
      <p:sp>
        <p:nvSpPr>
          <p:cNvPr id="7" name="numero 1"/>
          <p:cNvSpPr/>
          <p:nvPr/>
        </p:nvSpPr>
        <p:spPr>
          <a:xfrm>
            <a:off x="8046720" y="196596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467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passo 1"/>
          <p:cNvSpPr txBox="1"/>
          <p:nvPr/>
        </p:nvSpPr>
        <p:spPr>
          <a:xfrm>
            <a:off x="8577072" y="191109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WBS: l'albero delle lavorazioni del cantiere</a:t>
            </a:r>
            <a:endParaRPr lang="en-US" sz="1400" dirty="0"/>
          </a:p>
        </p:txBody>
      </p:sp>
      <p:sp>
        <p:nvSpPr>
          <p:cNvPr id="10" name="numero 2"/>
          <p:cNvSpPr/>
          <p:nvPr/>
        </p:nvSpPr>
        <p:spPr>
          <a:xfrm>
            <a:off x="8046720" y="27889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04672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passo 2"/>
          <p:cNvSpPr txBox="1"/>
          <p:nvPr/>
        </p:nvSpPr>
        <p:spPr>
          <a:xfrm>
            <a:off x="8577072" y="273405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Seleziona una voce: vedi i moduli compilati su di essa</a:t>
            </a:r>
            <a:endParaRPr lang="en-US" sz="1400" dirty="0"/>
          </a:p>
        </p:txBody>
      </p:sp>
      <p:sp>
        <p:nvSpPr>
          <p:cNvPr id="13" name="numero 3"/>
          <p:cNvSpPr/>
          <p:nvPr/>
        </p:nvSpPr>
        <p:spPr>
          <a:xfrm>
            <a:off x="8046720" y="36118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passo 3"/>
          <p:cNvSpPr txBox="1"/>
          <p:nvPr/>
        </p:nvSpPr>
        <p:spPr>
          <a:xfrm>
            <a:off x="8577072" y="355701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"+ Compila modulo" apre la compilazione già sulla voce</a:t>
            </a:r>
            <a:endParaRPr lang="en-US" sz="1400" dirty="0"/>
          </a:p>
        </p:txBody>
      </p:sp>
      <p:sp>
        <p:nvSpPr>
          <p:cNvPr id="16" name="numero 4"/>
          <p:cNvSpPr/>
          <p:nvPr/>
        </p:nvSpPr>
        <p:spPr>
          <a:xfrm>
            <a:off x="8046720" y="44348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4672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passo 4"/>
          <p:cNvSpPr txBox="1"/>
          <p:nvPr/>
        </p:nvSpPr>
        <p:spPr>
          <a:xfrm>
            <a:off x="8577072" y="437997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Ufficio: crea le voci o importale da Excel o CSV</a:t>
            </a:r>
            <a:endParaRPr lang="en-US" sz="1400" dirty="0"/>
          </a:p>
        </p:txBody>
      </p:sp>
      <p:sp>
        <p:nvSpPr>
          <p:cNvPr id="19" name="consiglio"/>
          <p:cNvSpPr/>
          <p:nvPr/>
        </p:nvSpPr>
        <p:spPr>
          <a:xfrm>
            <a:off x="548640" y="5540693"/>
            <a:ext cx="11094415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pic>
        <p:nvPicPr>
          <p:cNvPr id="20" name="Image 1" descr="Consigl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05285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188720" y="5540693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Consiglio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nei file da importare bastano codice e nome: i codici puntati (01 › 01.02) creano la gerarchia da soli.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Compilare un modulo</a:t>
            </a:r>
            <a:endParaRPr lang="en-US" sz="3200" dirty="0"/>
          </a:p>
        </p:txBody>
      </p:sp>
      <p:sp>
        <p:nvSpPr>
          <p:cNvPr id="3" name="cornice schermata"/>
          <p:cNvSpPr/>
          <p:nvPr/>
        </p:nvSpPr>
        <p:spPr>
          <a:xfrm>
            <a:off x="512064" y="1243584"/>
            <a:ext cx="7159752" cy="4059365"/>
          </a:xfrm>
          <a:prstGeom prst="rect">
            <a:avLst/>
          </a:prstGeom>
          <a:solidFill>
            <a:schemeClr val="bg1"/>
          </a:solidFill>
          <a:ln w="9525">
            <a:solidFill>
              <a:srgbClr val="D3D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C4577">
                <a:alpha val="18000"/>
              </a:srgbClr>
            </a:outerShdw>
          </a:effectLst>
        </p:spPr>
      </p:sp>
      <p:pic>
        <p:nvPicPr>
          <p:cNvPr id="4" name="schermata" descr="Schermata di InCampo: compi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086600" cy="3986213"/>
          </a:xfrm>
          <a:prstGeom prst="rect">
            <a:avLst/>
          </a:prstGeom>
        </p:spPr>
      </p:pic>
      <p:sp>
        <p:nvSpPr>
          <p:cNvPr id="5" name="chi lo usa"/>
          <p:cNvSpPr/>
          <p:nvPr/>
        </p:nvSpPr>
        <p:spPr>
          <a:xfrm>
            <a:off x="8046720" y="1280160"/>
            <a:ext cx="3596335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11312" y="1280160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Chi: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tutti</a:t>
            </a:r>
            <a:endParaRPr lang="en-US" sz="1300" dirty="0"/>
          </a:p>
        </p:txBody>
      </p:sp>
      <p:sp>
        <p:nvSpPr>
          <p:cNvPr id="7" name="numero 1"/>
          <p:cNvSpPr/>
          <p:nvPr/>
        </p:nvSpPr>
        <p:spPr>
          <a:xfrm>
            <a:off x="8046720" y="196596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467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passo 1"/>
          <p:cNvSpPr txBox="1"/>
          <p:nvPr/>
        </p:nvSpPr>
        <p:spPr>
          <a:xfrm>
            <a:off x="8577072" y="1911096"/>
            <a:ext cx="30659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Menu "+ Compila modulo": fuori da un cantiere chiede quale</a:t>
            </a:r>
            <a:endParaRPr lang="en-US" sz="1400" dirty="0"/>
          </a:p>
        </p:txBody>
      </p:sp>
      <p:sp>
        <p:nvSpPr>
          <p:cNvPr id="10" name="numero 2"/>
          <p:cNvSpPr/>
          <p:nvPr/>
        </p:nvSpPr>
        <p:spPr>
          <a:xfrm>
            <a:off x="8046720" y="267919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046720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passo 2"/>
          <p:cNvSpPr txBox="1"/>
          <p:nvPr/>
        </p:nvSpPr>
        <p:spPr>
          <a:xfrm>
            <a:off x="8577072" y="2624328"/>
            <a:ext cx="30659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Dove: tutto il cantiere, o una voce WBS</a:t>
            </a:r>
            <a:endParaRPr lang="en-US" sz="1400" dirty="0"/>
          </a:p>
        </p:txBody>
      </p:sp>
      <p:sp>
        <p:nvSpPr>
          <p:cNvPr id="13" name="numero 3"/>
          <p:cNvSpPr/>
          <p:nvPr/>
        </p:nvSpPr>
        <p:spPr>
          <a:xfrm>
            <a:off x="8046720" y="339242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passo 3"/>
          <p:cNvSpPr txBox="1"/>
          <p:nvPr/>
        </p:nvSpPr>
        <p:spPr>
          <a:xfrm>
            <a:off x="8577072" y="3337560"/>
            <a:ext cx="30659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Scegli il modulo e compila; * = obbligatorio</a:t>
            </a:r>
            <a:endParaRPr lang="en-US" sz="1400" dirty="0"/>
          </a:p>
        </p:txBody>
      </p:sp>
      <p:sp>
        <p:nvSpPr>
          <p:cNvPr id="16" name="numero 4"/>
          <p:cNvSpPr/>
          <p:nvPr/>
        </p:nvSpPr>
        <p:spPr>
          <a:xfrm>
            <a:off x="8046720" y="410565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46720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passo 4"/>
          <p:cNvSpPr txBox="1"/>
          <p:nvPr/>
        </p:nvSpPr>
        <p:spPr>
          <a:xfrm>
            <a:off x="8577072" y="4050792"/>
            <a:ext cx="30659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Fermati su un campo o premi "?" per i suggerimenti</a:t>
            </a:r>
            <a:endParaRPr lang="en-US" sz="1400" dirty="0"/>
          </a:p>
        </p:txBody>
      </p:sp>
      <p:sp>
        <p:nvSpPr>
          <p:cNvPr id="19" name="numero 5"/>
          <p:cNvSpPr/>
          <p:nvPr/>
        </p:nvSpPr>
        <p:spPr>
          <a:xfrm>
            <a:off x="8046720" y="481888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46720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passo 5"/>
          <p:cNvSpPr txBox="1"/>
          <p:nvPr/>
        </p:nvSpPr>
        <p:spPr>
          <a:xfrm>
            <a:off x="8577072" y="4764024"/>
            <a:ext cx="30659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"Salva modulo": torni ai moduli compilati</a:t>
            </a:r>
            <a:endParaRPr lang="en-US" sz="1400" dirty="0"/>
          </a:p>
        </p:txBody>
      </p:sp>
      <p:sp>
        <p:nvSpPr>
          <p:cNvPr id="22" name="consiglio"/>
          <p:cNvSpPr/>
          <p:nvPr/>
        </p:nvSpPr>
        <p:spPr>
          <a:xfrm>
            <a:off x="548640" y="5540693"/>
            <a:ext cx="11094415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pic>
        <p:nvPicPr>
          <p:cNvPr id="23" name="Image 1" descr="Consigl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05285"/>
            <a:ext cx="329184" cy="32918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188720" y="5540693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Consiglio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"Commento o foto" sotto ogni campo aggiunge una nota proprio a quella risposta.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Moduli compilati</a:t>
            </a:r>
            <a:endParaRPr lang="en-US" sz="3200" dirty="0"/>
          </a:p>
        </p:txBody>
      </p:sp>
      <p:sp>
        <p:nvSpPr>
          <p:cNvPr id="3" name="cornice schermata"/>
          <p:cNvSpPr/>
          <p:nvPr/>
        </p:nvSpPr>
        <p:spPr>
          <a:xfrm>
            <a:off x="512064" y="1243584"/>
            <a:ext cx="7159752" cy="4059365"/>
          </a:xfrm>
          <a:prstGeom prst="rect">
            <a:avLst/>
          </a:prstGeom>
          <a:solidFill>
            <a:schemeClr val="bg1"/>
          </a:solidFill>
          <a:ln w="9525">
            <a:solidFill>
              <a:srgbClr val="D3D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C4577">
                <a:alpha val="18000"/>
              </a:srgbClr>
            </a:outerShdw>
          </a:effectLst>
        </p:spPr>
      </p:sp>
      <p:pic>
        <p:nvPicPr>
          <p:cNvPr id="4" name="schermata" descr="Schermata di InCampo: moduli compilat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086600" cy="3986213"/>
          </a:xfrm>
          <a:prstGeom prst="rect">
            <a:avLst/>
          </a:prstGeom>
        </p:spPr>
      </p:pic>
      <p:sp>
        <p:nvSpPr>
          <p:cNvPr id="5" name="chi lo usa"/>
          <p:cNvSpPr/>
          <p:nvPr/>
        </p:nvSpPr>
        <p:spPr>
          <a:xfrm>
            <a:off x="8046720" y="1280160"/>
            <a:ext cx="3596335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11312" y="1280160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Chi: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tutti</a:t>
            </a:r>
            <a:endParaRPr lang="en-US" sz="1300" dirty="0"/>
          </a:p>
        </p:txBody>
      </p:sp>
      <p:sp>
        <p:nvSpPr>
          <p:cNvPr id="7" name="numero 1"/>
          <p:cNvSpPr/>
          <p:nvPr/>
        </p:nvSpPr>
        <p:spPr>
          <a:xfrm>
            <a:off x="8046720" y="196596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467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passo 1"/>
          <p:cNvSpPr txBox="1"/>
          <p:nvPr/>
        </p:nvSpPr>
        <p:spPr>
          <a:xfrm>
            <a:off x="8577072" y="191109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Menu del cantiere: "Moduli compilati"</a:t>
            </a:r>
            <a:endParaRPr lang="en-US" sz="1400" dirty="0"/>
          </a:p>
        </p:txBody>
      </p:sp>
      <p:sp>
        <p:nvSpPr>
          <p:cNvPr id="10" name="numero 2"/>
          <p:cNvSpPr/>
          <p:nvPr/>
        </p:nvSpPr>
        <p:spPr>
          <a:xfrm>
            <a:off x="8046720" y="27889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04672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passo 2"/>
          <p:cNvSpPr txBox="1"/>
          <p:nvPr/>
        </p:nvSpPr>
        <p:spPr>
          <a:xfrm>
            <a:off x="8577072" y="273405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Tutti i moduli: su planimetrie, voci WBS e generali</a:t>
            </a:r>
            <a:endParaRPr lang="en-US" sz="1400" dirty="0"/>
          </a:p>
        </p:txBody>
      </p:sp>
      <p:sp>
        <p:nvSpPr>
          <p:cNvPr id="13" name="numero 3"/>
          <p:cNvSpPr/>
          <p:nvPr/>
        </p:nvSpPr>
        <p:spPr>
          <a:xfrm>
            <a:off x="8046720" y="36118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passo 3"/>
          <p:cNvSpPr txBox="1"/>
          <p:nvPr/>
        </p:nvSpPr>
        <p:spPr>
          <a:xfrm>
            <a:off x="8577072" y="355701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Filtra per modulo, luogo ed esito, o cerca per testo</a:t>
            </a:r>
            <a:endParaRPr lang="en-US" sz="1400" dirty="0"/>
          </a:p>
        </p:txBody>
      </p:sp>
      <p:sp>
        <p:nvSpPr>
          <p:cNvPr id="16" name="numero 4"/>
          <p:cNvSpPr/>
          <p:nvPr/>
        </p:nvSpPr>
        <p:spPr>
          <a:xfrm>
            <a:off x="8046720" y="44348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4672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passo 4"/>
          <p:cNvSpPr txBox="1"/>
          <p:nvPr/>
        </p:nvSpPr>
        <p:spPr>
          <a:xfrm>
            <a:off x="8577072" y="437997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Clic sul luogo: vai al pin o alla voce WBS</a:t>
            </a:r>
            <a:endParaRPr lang="en-US" sz="1400" dirty="0"/>
          </a:p>
        </p:txBody>
      </p:sp>
      <p:sp>
        <p:nvSpPr>
          <p:cNvPr id="19" name="consiglio"/>
          <p:cNvSpPr/>
          <p:nvPr/>
        </p:nvSpPr>
        <p:spPr>
          <a:xfrm>
            <a:off x="548640" y="5540693"/>
            <a:ext cx="11094415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pic>
        <p:nvPicPr>
          <p:cNvPr id="20" name="Image 1" descr="Consigl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05285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188720" y="5540693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Consiglio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il filtro "Con non conformità" mostra subito i controlli andati male.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Dettaglio di un modulo</a:t>
            </a:r>
            <a:endParaRPr lang="en-US" sz="3200" dirty="0"/>
          </a:p>
        </p:txBody>
      </p:sp>
      <p:sp>
        <p:nvSpPr>
          <p:cNvPr id="3" name="cornice schermata"/>
          <p:cNvSpPr/>
          <p:nvPr/>
        </p:nvSpPr>
        <p:spPr>
          <a:xfrm>
            <a:off x="512064" y="1243584"/>
            <a:ext cx="7159752" cy="4059365"/>
          </a:xfrm>
          <a:prstGeom prst="rect">
            <a:avLst/>
          </a:prstGeom>
          <a:solidFill>
            <a:schemeClr val="bg1"/>
          </a:solidFill>
          <a:ln w="9525">
            <a:solidFill>
              <a:srgbClr val="D3D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C4577">
                <a:alpha val="18000"/>
              </a:srgbClr>
            </a:outerShdw>
          </a:effectLst>
        </p:spPr>
      </p:sp>
      <p:pic>
        <p:nvPicPr>
          <p:cNvPr id="4" name="schermata" descr="Schermata di InCampo: dettaglio modu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086600" cy="3986213"/>
          </a:xfrm>
          <a:prstGeom prst="rect">
            <a:avLst/>
          </a:prstGeom>
        </p:spPr>
      </p:pic>
      <p:sp>
        <p:nvSpPr>
          <p:cNvPr id="5" name="chi lo usa"/>
          <p:cNvSpPr/>
          <p:nvPr/>
        </p:nvSpPr>
        <p:spPr>
          <a:xfrm>
            <a:off x="8046720" y="1280160"/>
            <a:ext cx="3596335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11312" y="1280160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Chi: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tutti (modifica: autore o ufficio)</a:t>
            </a:r>
            <a:endParaRPr lang="en-US" sz="1300" dirty="0"/>
          </a:p>
        </p:txBody>
      </p:sp>
      <p:sp>
        <p:nvSpPr>
          <p:cNvPr id="7" name="numero 1"/>
          <p:cNvSpPr/>
          <p:nvPr/>
        </p:nvSpPr>
        <p:spPr>
          <a:xfrm>
            <a:off x="8046720" y="196596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467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passo 1"/>
          <p:cNvSpPr txBox="1"/>
          <p:nvPr/>
        </p:nvSpPr>
        <p:spPr>
          <a:xfrm>
            <a:off x="8577072" y="191109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Clic su un modulo compilato per aprirlo</a:t>
            </a:r>
            <a:endParaRPr lang="en-US" sz="1400" dirty="0"/>
          </a:p>
        </p:txBody>
      </p:sp>
      <p:sp>
        <p:nvSpPr>
          <p:cNvPr id="10" name="numero 2"/>
          <p:cNvSpPr/>
          <p:nvPr/>
        </p:nvSpPr>
        <p:spPr>
          <a:xfrm>
            <a:off x="8046720" y="27889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04672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passo 2"/>
          <p:cNvSpPr txBox="1"/>
          <p:nvPr/>
        </p:nvSpPr>
        <p:spPr>
          <a:xfrm>
            <a:off x="8577072" y="273405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"Scarica PDF": il modulo con foto, firma e note</a:t>
            </a:r>
            <a:endParaRPr lang="en-US" sz="1400" dirty="0"/>
          </a:p>
        </p:txBody>
      </p:sp>
      <p:sp>
        <p:nvSpPr>
          <p:cNvPr id="13" name="numero 3"/>
          <p:cNvSpPr/>
          <p:nvPr/>
        </p:nvSpPr>
        <p:spPr>
          <a:xfrm>
            <a:off x="8046720" y="36118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passo 3"/>
          <p:cNvSpPr txBox="1"/>
          <p:nvPr/>
        </p:nvSpPr>
        <p:spPr>
          <a:xfrm>
            <a:off x="8577072" y="355701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"Modifica": chi l'ha compilato oppure l'ufficio</a:t>
            </a:r>
            <a:endParaRPr lang="en-US" sz="1400" dirty="0"/>
          </a:p>
        </p:txBody>
      </p:sp>
      <p:sp>
        <p:nvSpPr>
          <p:cNvPr id="16" name="numero 4"/>
          <p:cNvSpPr/>
          <p:nvPr/>
        </p:nvSpPr>
        <p:spPr>
          <a:xfrm>
            <a:off x="8046720" y="44348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4672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passo 4"/>
          <p:cNvSpPr txBox="1"/>
          <p:nvPr/>
        </p:nvSpPr>
        <p:spPr>
          <a:xfrm>
            <a:off x="8577072" y="437997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c'è "Non conforme" (moduli su pin): "Crea task"</a:t>
            </a:r>
            <a:endParaRPr lang="en-US" sz="1400" dirty="0"/>
          </a:p>
        </p:txBody>
      </p:sp>
      <p:sp>
        <p:nvSpPr>
          <p:cNvPr id="19" name="consiglio"/>
          <p:cNvSpPr/>
          <p:nvPr/>
        </p:nvSpPr>
        <p:spPr>
          <a:xfrm>
            <a:off x="548640" y="5540693"/>
            <a:ext cx="11094415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pic>
        <p:nvPicPr>
          <p:cNvPr id="20" name="Image 1" descr="Consigl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05285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188720" y="5540693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Consiglio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il PDF riporta commessa, cantiere, luogo, autore e data: pronto da archiviare o inviare.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3200" dirty="0"/>
          </a:p>
        </p:txBody>
      </p:sp>
      <p:sp>
        <p:nvSpPr>
          <p:cNvPr id="3" name="cornice schermata"/>
          <p:cNvSpPr/>
          <p:nvPr/>
        </p:nvSpPr>
        <p:spPr>
          <a:xfrm>
            <a:off x="512064" y="1243584"/>
            <a:ext cx="7159752" cy="4059365"/>
          </a:xfrm>
          <a:prstGeom prst="rect">
            <a:avLst/>
          </a:prstGeom>
          <a:solidFill>
            <a:schemeClr val="bg1"/>
          </a:solidFill>
          <a:ln w="9525">
            <a:solidFill>
              <a:srgbClr val="D3D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C4577">
                <a:alpha val="18000"/>
              </a:srgbClr>
            </a:outerShdw>
          </a:effectLst>
        </p:spPr>
      </p:sp>
      <p:pic>
        <p:nvPicPr>
          <p:cNvPr id="4" name="schermata" descr="Schermata di InCampo: tas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086600" cy="3986213"/>
          </a:xfrm>
          <a:prstGeom prst="rect">
            <a:avLst/>
          </a:prstGeom>
        </p:spPr>
      </p:pic>
      <p:sp>
        <p:nvSpPr>
          <p:cNvPr id="5" name="chi lo usa"/>
          <p:cNvSpPr/>
          <p:nvPr/>
        </p:nvSpPr>
        <p:spPr>
          <a:xfrm>
            <a:off x="8046720" y="1280160"/>
            <a:ext cx="3596335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11312" y="1280160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Chi: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tutti (verifica: ufficio)</a:t>
            </a:r>
            <a:endParaRPr lang="en-US" sz="1300" dirty="0"/>
          </a:p>
        </p:txBody>
      </p:sp>
      <p:sp>
        <p:nvSpPr>
          <p:cNvPr id="7" name="numero 1"/>
          <p:cNvSpPr/>
          <p:nvPr/>
        </p:nvSpPr>
        <p:spPr>
          <a:xfrm>
            <a:off x="8046720" y="196596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467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passo 1"/>
          <p:cNvSpPr txBox="1"/>
          <p:nvPr/>
        </p:nvSpPr>
        <p:spPr>
          <a:xfrm>
            <a:off x="8577072" y="191109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Task del cantiere, oppure "I miei task"</a:t>
            </a:r>
            <a:endParaRPr lang="en-US" sz="1400" dirty="0"/>
          </a:p>
        </p:txBody>
      </p:sp>
      <p:sp>
        <p:nvSpPr>
          <p:cNvPr id="10" name="numero 2"/>
          <p:cNvSpPr/>
          <p:nvPr/>
        </p:nvSpPr>
        <p:spPr>
          <a:xfrm>
            <a:off x="8046720" y="27889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04672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passo 2"/>
          <p:cNvSpPr txBox="1"/>
          <p:nvPr/>
        </p:nvSpPr>
        <p:spPr>
          <a:xfrm>
            <a:off x="8577072" y="273405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Cambia stato, assegnatario e scadenza dalla tabella</a:t>
            </a:r>
            <a:endParaRPr lang="en-US" sz="1400" dirty="0"/>
          </a:p>
        </p:txBody>
      </p:sp>
      <p:sp>
        <p:nvSpPr>
          <p:cNvPr id="13" name="numero 3"/>
          <p:cNvSpPr/>
          <p:nvPr/>
        </p:nvSpPr>
        <p:spPr>
          <a:xfrm>
            <a:off x="8046720" y="36118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passo 3"/>
          <p:cNvSpPr txBox="1"/>
          <p:nvPr/>
        </p:nvSpPr>
        <p:spPr>
          <a:xfrm>
            <a:off x="8577072" y="355701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L'icona del pin apre la planimetria su quel punto</a:t>
            </a:r>
            <a:endParaRPr lang="en-US" sz="1400" dirty="0"/>
          </a:p>
        </p:txBody>
      </p:sp>
      <p:sp>
        <p:nvSpPr>
          <p:cNvPr id="16" name="numero 4"/>
          <p:cNvSpPr/>
          <p:nvPr/>
        </p:nvSpPr>
        <p:spPr>
          <a:xfrm>
            <a:off x="8046720" y="44348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4672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passo 4"/>
          <p:cNvSpPr txBox="1"/>
          <p:nvPr/>
        </p:nvSpPr>
        <p:spPr>
          <a:xfrm>
            <a:off x="8577072" y="437997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Ufficio: "Verificato" chiude il ciclo</a:t>
            </a:r>
            <a:endParaRPr lang="en-US" sz="1400" dirty="0"/>
          </a:p>
        </p:txBody>
      </p:sp>
      <p:sp>
        <p:nvSpPr>
          <p:cNvPr id="19" name="consiglio"/>
          <p:cNvSpPr/>
          <p:nvPr/>
        </p:nvSpPr>
        <p:spPr>
          <a:xfrm>
            <a:off x="548640" y="5540693"/>
            <a:ext cx="11094415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pic>
        <p:nvPicPr>
          <p:cNvPr id="20" name="Image 1" descr="Consigl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05285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188720" y="5540693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Consiglio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nell'app: "Prendo in carico", poi "✓ Risolto" con una foto del lavoro finito.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3200" dirty="0"/>
          </a:p>
        </p:txBody>
      </p:sp>
      <p:sp>
        <p:nvSpPr>
          <p:cNvPr id="3" name="cornice schermata"/>
          <p:cNvSpPr/>
          <p:nvPr/>
        </p:nvSpPr>
        <p:spPr>
          <a:xfrm>
            <a:off x="512064" y="1243584"/>
            <a:ext cx="7159752" cy="4059365"/>
          </a:xfrm>
          <a:prstGeom prst="rect">
            <a:avLst/>
          </a:prstGeom>
          <a:solidFill>
            <a:schemeClr val="bg1"/>
          </a:solidFill>
          <a:ln w="9525">
            <a:solidFill>
              <a:srgbClr val="D3D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C4577">
                <a:alpha val="18000"/>
              </a:srgbClr>
            </a:outerShdw>
          </a:effectLst>
        </p:spPr>
      </p:sp>
      <p:pic>
        <p:nvPicPr>
          <p:cNvPr id="4" name="schermata" descr="Schermata di InCampo: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086600" cy="3986213"/>
          </a:xfrm>
          <a:prstGeom prst="rect">
            <a:avLst/>
          </a:prstGeom>
        </p:spPr>
      </p:pic>
      <p:sp>
        <p:nvSpPr>
          <p:cNvPr id="5" name="chi lo usa"/>
          <p:cNvSpPr/>
          <p:nvPr/>
        </p:nvSpPr>
        <p:spPr>
          <a:xfrm>
            <a:off x="8046720" y="1280160"/>
            <a:ext cx="3596335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11312" y="1280160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Chi: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ufficio e amministratore</a:t>
            </a:r>
            <a:endParaRPr lang="en-US" sz="1300" dirty="0"/>
          </a:p>
        </p:txBody>
      </p:sp>
      <p:sp>
        <p:nvSpPr>
          <p:cNvPr id="7" name="numero 1"/>
          <p:cNvSpPr/>
          <p:nvPr/>
        </p:nvSpPr>
        <p:spPr>
          <a:xfrm>
            <a:off x="8046720" y="196596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467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passo 1"/>
          <p:cNvSpPr txBox="1"/>
          <p:nvPr/>
        </p:nvSpPr>
        <p:spPr>
          <a:xfrm>
            <a:off x="8577072" y="191109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Numeri chiave: task aperti, scaduti, chiusi negli ultimi 7 giorni</a:t>
            </a:r>
            <a:endParaRPr lang="en-US" sz="1400" dirty="0"/>
          </a:p>
        </p:txBody>
      </p:sp>
      <p:sp>
        <p:nvSpPr>
          <p:cNvPr id="10" name="numero 2"/>
          <p:cNvSpPr/>
          <p:nvPr/>
        </p:nvSpPr>
        <p:spPr>
          <a:xfrm>
            <a:off x="8046720" y="27889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04672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passo 2"/>
          <p:cNvSpPr txBox="1"/>
          <p:nvPr/>
        </p:nvSpPr>
        <p:spPr>
          <a:xfrm>
            <a:off x="8577072" y="273405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Grafici: per stato, creati e risolti nel tempo, per planimetria</a:t>
            </a:r>
            <a:endParaRPr lang="en-US" sz="1400" dirty="0"/>
          </a:p>
        </p:txBody>
      </p:sp>
      <p:sp>
        <p:nvSpPr>
          <p:cNvPr id="13" name="numero 3"/>
          <p:cNvSpPr/>
          <p:nvPr/>
        </p:nvSpPr>
        <p:spPr>
          <a:xfrm>
            <a:off x="8046720" y="36118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passo 3"/>
          <p:cNvSpPr txBox="1"/>
          <p:nvPr/>
        </p:nvSpPr>
        <p:spPr>
          <a:xfrm>
            <a:off x="8577072" y="355701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Moduli compilati per tipo</a:t>
            </a:r>
            <a:endParaRPr lang="en-US" sz="1400" dirty="0"/>
          </a:p>
        </p:txBody>
      </p:sp>
      <p:sp>
        <p:nvSpPr>
          <p:cNvPr id="16" name="numero 4"/>
          <p:cNvSpPr/>
          <p:nvPr/>
        </p:nvSpPr>
        <p:spPr>
          <a:xfrm>
            <a:off x="8046720" y="44348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4672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passo 4"/>
          <p:cNvSpPr txBox="1"/>
          <p:nvPr/>
        </p:nvSpPr>
        <p:spPr>
          <a:xfrm>
            <a:off x="8577072" y="437997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Clic su un grafico: apre i task già filtrati</a:t>
            </a:r>
            <a:endParaRPr lang="en-US" sz="1400" dirty="0"/>
          </a:p>
        </p:txBody>
      </p:sp>
      <p:sp>
        <p:nvSpPr>
          <p:cNvPr id="19" name="consiglio"/>
          <p:cNvSpPr/>
          <p:nvPr/>
        </p:nvSpPr>
        <p:spPr>
          <a:xfrm>
            <a:off x="548640" y="5540693"/>
            <a:ext cx="11094415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pic>
        <p:nvPicPr>
          <p:cNvPr id="20" name="Image 1" descr="Consigl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05285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188720" y="5540693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Consiglio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restringi periodo, planimetria o assegnatario per preparare una riunione di cantiere.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5544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Moduli e PCQ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7490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Creare e mantenere i moduli, anche partendo dal Word del PCQ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sezione Moduli</a:t>
            </a:r>
            <a:endParaRPr lang="en-US" sz="3200" dirty="0"/>
          </a:p>
        </p:txBody>
      </p:sp>
      <p:sp>
        <p:nvSpPr>
          <p:cNvPr id="3" name="cornice schermata"/>
          <p:cNvSpPr/>
          <p:nvPr/>
        </p:nvSpPr>
        <p:spPr>
          <a:xfrm>
            <a:off x="512064" y="1243584"/>
            <a:ext cx="7159752" cy="4059365"/>
          </a:xfrm>
          <a:prstGeom prst="rect">
            <a:avLst/>
          </a:prstGeom>
          <a:solidFill>
            <a:schemeClr val="bg1"/>
          </a:solidFill>
          <a:ln w="9525">
            <a:solidFill>
              <a:srgbClr val="D3D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C4577">
                <a:alpha val="18000"/>
              </a:srgbClr>
            </a:outerShdw>
          </a:effectLst>
        </p:spPr>
      </p:sp>
      <p:pic>
        <p:nvPicPr>
          <p:cNvPr id="4" name="schermata" descr="Schermata di InCampo: moduli hu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086600" cy="3986213"/>
          </a:xfrm>
          <a:prstGeom prst="rect">
            <a:avLst/>
          </a:prstGeom>
        </p:spPr>
      </p:pic>
      <p:sp>
        <p:nvSpPr>
          <p:cNvPr id="5" name="chi lo usa"/>
          <p:cNvSpPr/>
          <p:nvPr/>
        </p:nvSpPr>
        <p:spPr>
          <a:xfrm>
            <a:off x="8046720" y="1280160"/>
            <a:ext cx="3596335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11312" y="1280160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Chi: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ufficio (moduli nuovi: amministratore)</a:t>
            </a:r>
            <a:endParaRPr lang="en-US" sz="1300" dirty="0"/>
          </a:p>
        </p:txBody>
      </p:sp>
      <p:sp>
        <p:nvSpPr>
          <p:cNvPr id="7" name="numero 1"/>
          <p:cNvSpPr/>
          <p:nvPr/>
        </p:nvSpPr>
        <p:spPr>
          <a:xfrm>
            <a:off x="8046720" y="196596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467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passo 1"/>
          <p:cNvSpPr txBox="1"/>
          <p:nvPr/>
        </p:nvSpPr>
        <p:spPr>
          <a:xfrm>
            <a:off x="8577072" y="191109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Menu "Moduli": una riga per ogni attività</a:t>
            </a:r>
            <a:endParaRPr lang="en-US" sz="1400" dirty="0"/>
          </a:p>
        </p:txBody>
      </p:sp>
      <p:sp>
        <p:nvSpPr>
          <p:cNvPr id="10" name="numero 2"/>
          <p:cNvSpPr/>
          <p:nvPr/>
        </p:nvSpPr>
        <p:spPr>
          <a:xfrm>
            <a:off x="8046720" y="27889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04672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passo 2"/>
          <p:cNvSpPr txBox="1"/>
          <p:nvPr/>
        </p:nvSpPr>
        <p:spPr>
          <a:xfrm>
            <a:off x="8577072" y="273405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Elenco moduli: modifica, duplica, archivia</a:t>
            </a:r>
            <a:endParaRPr lang="en-US" sz="1400" dirty="0"/>
          </a:p>
        </p:txBody>
      </p:sp>
      <p:sp>
        <p:nvSpPr>
          <p:cNvPr id="13" name="numero 3"/>
          <p:cNvSpPr/>
          <p:nvPr/>
        </p:nvSpPr>
        <p:spPr>
          <a:xfrm>
            <a:off x="8046720" y="36118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passo 3"/>
          <p:cNvSpPr txBox="1"/>
          <p:nvPr/>
        </p:nvSpPr>
        <p:spPr>
          <a:xfrm>
            <a:off x="8577072" y="355701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"In uso" = già compilato: struttura bloccata</a:t>
            </a:r>
            <a:endParaRPr lang="en-US" sz="1400" dirty="0"/>
          </a:p>
        </p:txBody>
      </p:sp>
      <p:sp>
        <p:nvSpPr>
          <p:cNvPr id="16" name="numero 4"/>
          <p:cNvSpPr/>
          <p:nvPr/>
        </p:nvSpPr>
        <p:spPr>
          <a:xfrm>
            <a:off x="8046720" y="44348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4672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passo 4"/>
          <p:cNvSpPr txBox="1"/>
          <p:nvPr/>
        </p:nvSpPr>
        <p:spPr>
          <a:xfrm>
            <a:off x="8577072" y="437997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Categorie: Sicurezza, Qualità, Diario, Altro</a:t>
            </a:r>
            <a:endParaRPr lang="en-US" sz="1400" dirty="0"/>
          </a:p>
        </p:txBody>
      </p:sp>
      <p:sp>
        <p:nvSpPr>
          <p:cNvPr id="19" name="consiglio"/>
          <p:cNvSpPr/>
          <p:nvPr/>
        </p:nvSpPr>
        <p:spPr>
          <a:xfrm>
            <a:off x="548640" y="5540693"/>
            <a:ext cx="11094415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pic>
        <p:nvPicPr>
          <p:cNvPr id="20" name="Image 1" descr="Consigl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05285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188720" y="5540693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Consiglio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 cambiare un modulo in uso, duplicalo e modifica la copia; le compilazioni vecchie restano leggibili.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L'editor dei moduli</a:t>
            </a:r>
            <a:endParaRPr lang="en-US" sz="3200" dirty="0"/>
          </a:p>
        </p:txBody>
      </p:sp>
      <p:sp>
        <p:nvSpPr>
          <p:cNvPr id="3" name="cornice schermata"/>
          <p:cNvSpPr/>
          <p:nvPr/>
        </p:nvSpPr>
        <p:spPr>
          <a:xfrm>
            <a:off x="512064" y="1243584"/>
            <a:ext cx="7159752" cy="4059365"/>
          </a:xfrm>
          <a:prstGeom prst="rect">
            <a:avLst/>
          </a:prstGeom>
          <a:solidFill>
            <a:schemeClr val="bg1"/>
          </a:solidFill>
          <a:ln w="9525">
            <a:solidFill>
              <a:srgbClr val="D3D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C4577">
                <a:alpha val="18000"/>
              </a:srgbClr>
            </a:outerShdw>
          </a:effectLst>
        </p:spPr>
      </p:sp>
      <p:pic>
        <p:nvPicPr>
          <p:cNvPr id="4" name="schermata" descr="Schermata di InCampo: ed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086600" cy="3986213"/>
          </a:xfrm>
          <a:prstGeom prst="rect">
            <a:avLst/>
          </a:prstGeom>
        </p:spPr>
      </p:pic>
      <p:sp>
        <p:nvSpPr>
          <p:cNvPr id="5" name="chi lo usa"/>
          <p:cNvSpPr/>
          <p:nvPr/>
        </p:nvSpPr>
        <p:spPr>
          <a:xfrm>
            <a:off x="8046720" y="1280160"/>
            <a:ext cx="3596335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11312" y="1280160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Chi: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amministratore (modifiche: anche ufficio)</a:t>
            </a:r>
            <a:endParaRPr lang="en-US" sz="1300" dirty="0"/>
          </a:p>
        </p:txBody>
      </p:sp>
      <p:sp>
        <p:nvSpPr>
          <p:cNvPr id="7" name="numero 1"/>
          <p:cNvSpPr/>
          <p:nvPr/>
        </p:nvSpPr>
        <p:spPr>
          <a:xfrm>
            <a:off x="8046720" y="196596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467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passo 1"/>
          <p:cNvSpPr txBox="1"/>
          <p:nvPr/>
        </p:nvSpPr>
        <p:spPr>
          <a:xfrm>
            <a:off x="8577072" y="191109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Struttura: sezioni da 1 a 3 colonne, con i blocchi</a:t>
            </a:r>
            <a:endParaRPr lang="en-US" sz="1400" dirty="0"/>
          </a:p>
        </p:txBody>
      </p:sp>
      <p:sp>
        <p:nvSpPr>
          <p:cNvPr id="10" name="numero 2"/>
          <p:cNvSpPr/>
          <p:nvPr/>
        </p:nvSpPr>
        <p:spPr>
          <a:xfrm>
            <a:off x="8046720" y="27889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04672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passo 2"/>
          <p:cNvSpPr txBox="1"/>
          <p:nvPr/>
        </p:nvSpPr>
        <p:spPr>
          <a:xfrm>
            <a:off x="8577072" y="273405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Campi: riempi ogni blocco scegliendo il tipo</a:t>
            </a:r>
            <a:endParaRPr lang="en-US" sz="1400" dirty="0"/>
          </a:p>
        </p:txBody>
      </p:sp>
      <p:sp>
        <p:nvSpPr>
          <p:cNvPr id="13" name="numero 3"/>
          <p:cNvSpPr/>
          <p:nvPr/>
        </p:nvSpPr>
        <p:spPr>
          <a:xfrm>
            <a:off x="8046720" y="36118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passo 3"/>
          <p:cNvSpPr txBox="1"/>
          <p:nvPr/>
        </p:nvSpPr>
        <p:spPr>
          <a:xfrm>
            <a:off x="8577072" y="355701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Proprietà: etichetta, obbligatorio, opzioni, aiuto</a:t>
            </a:r>
            <a:endParaRPr lang="en-US" sz="1400" dirty="0"/>
          </a:p>
        </p:txBody>
      </p:sp>
      <p:sp>
        <p:nvSpPr>
          <p:cNvPr id="16" name="numero 4"/>
          <p:cNvSpPr/>
          <p:nvPr/>
        </p:nvSpPr>
        <p:spPr>
          <a:xfrm>
            <a:off x="8046720" y="44348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4672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passo 4"/>
          <p:cNvSpPr txBox="1"/>
          <p:nvPr/>
        </p:nvSpPr>
        <p:spPr>
          <a:xfrm>
            <a:off x="8577072" y="437997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Anteprima a destra: provalo prima di salvare</a:t>
            </a:r>
            <a:endParaRPr lang="en-US" sz="1400" dirty="0"/>
          </a:p>
        </p:txBody>
      </p:sp>
      <p:sp>
        <p:nvSpPr>
          <p:cNvPr id="19" name="consiglio"/>
          <p:cNvSpPr/>
          <p:nvPr/>
        </p:nvSpPr>
        <p:spPr>
          <a:xfrm>
            <a:off x="548640" y="5540693"/>
            <a:ext cx="11094415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pic>
        <p:nvPicPr>
          <p:cNvPr id="20" name="Image 1" descr="Consigl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05285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188720" y="5540693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Consiglio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tipi di campo: testo, testo lungo, numero, sì/no, scelta singola e multipla, data, foto, firma, posizione GPS.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Scelte multiple</a:t>
            </a:r>
            <a:endParaRPr lang="en-US" sz="3200" dirty="0"/>
          </a:p>
        </p:txBody>
      </p:sp>
      <p:sp>
        <p:nvSpPr>
          <p:cNvPr id="3" name="cornice schermata"/>
          <p:cNvSpPr/>
          <p:nvPr/>
        </p:nvSpPr>
        <p:spPr>
          <a:xfrm>
            <a:off x="512064" y="1243584"/>
            <a:ext cx="7159752" cy="4059365"/>
          </a:xfrm>
          <a:prstGeom prst="rect">
            <a:avLst/>
          </a:prstGeom>
          <a:solidFill>
            <a:schemeClr val="bg1"/>
          </a:solidFill>
          <a:ln w="9525">
            <a:solidFill>
              <a:srgbClr val="D3D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C4577">
                <a:alpha val="18000"/>
              </a:srgbClr>
            </a:outerShdw>
          </a:effectLst>
        </p:spPr>
      </p:sp>
      <p:pic>
        <p:nvPicPr>
          <p:cNvPr id="4" name="schermata" descr="Schermata di InCampo: scel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086600" cy="3986213"/>
          </a:xfrm>
          <a:prstGeom prst="rect">
            <a:avLst/>
          </a:prstGeom>
        </p:spPr>
      </p:pic>
      <p:sp>
        <p:nvSpPr>
          <p:cNvPr id="5" name="chi lo usa"/>
          <p:cNvSpPr/>
          <p:nvPr/>
        </p:nvSpPr>
        <p:spPr>
          <a:xfrm>
            <a:off x="8046720" y="1280160"/>
            <a:ext cx="3596335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11312" y="1280160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Chi: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ufficio e amministratore</a:t>
            </a:r>
            <a:endParaRPr lang="en-US" sz="1300" dirty="0"/>
          </a:p>
        </p:txBody>
      </p:sp>
      <p:sp>
        <p:nvSpPr>
          <p:cNvPr id="7" name="numero 1"/>
          <p:cNvSpPr/>
          <p:nvPr/>
        </p:nvSpPr>
        <p:spPr>
          <a:xfrm>
            <a:off x="8046720" y="196596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467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passo 1"/>
          <p:cNvSpPr txBox="1"/>
          <p:nvPr/>
        </p:nvSpPr>
        <p:spPr>
          <a:xfrm>
            <a:off x="8577072" y="191109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Moduli → Scelte multiple</a:t>
            </a:r>
            <a:endParaRPr lang="en-US" sz="1400" dirty="0"/>
          </a:p>
        </p:txBody>
      </p:sp>
      <p:sp>
        <p:nvSpPr>
          <p:cNvPr id="10" name="numero 2"/>
          <p:cNvSpPr/>
          <p:nvPr/>
        </p:nvSpPr>
        <p:spPr>
          <a:xfrm>
            <a:off x="8046720" y="27889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04672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passo 2"/>
          <p:cNvSpPr txBox="1"/>
          <p:nvPr/>
        </p:nvSpPr>
        <p:spPr>
          <a:xfrm>
            <a:off x="8577072" y="273405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Tutte le opzioni dei campi a scelta, in una pagina</a:t>
            </a:r>
            <a:endParaRPr lang="en-US" sz="1400" dirty="0"/>
          </a:p>
        </p:txBody>
      </p:sp>
      <p:sp>
        <p:nvSpPr>
          <p:cNvPr id="13" name="numero 3"/>
          <p:cNvSpPr/>
          <p:nvPr/>
        </p:nvSpPr>
        <p:spPr>
          <a:xfrm>
            <a:off x="8046720" y="36118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passo 3"/>
          <p:cNvSpPr txBox="1"/>
          <p:nvPr/>
        </p:nvSpPr>
        <p:spPr>
          <a:xfrm>
            <a:off x="8577072" y="355701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Un'opzione per riga, poi "Salva"</a:t>
            </a:r>
            <a:endParaRPr lang="en-US" sz="1400" dirty="0"/>
          </a:p>
        </p:txBody>
      </p:sp>
      <p:sp>
        <p:nvSpPr>
          <p:cNvPr id="16" name="numero 4"/>
          <p:cNvSpPr/>
          <p:nvPr/>
        </p:nvSpPr>
        <p:spPr>
          <a:xfrm>
            <a:off x="8046720" y="44348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4672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passo 4"/>
          <p:cNvSpPr txBox="1"/>
          <p:nvPr/>
        </p:nvSpPr>
        <p:spPr>
          <a:xfrm>
            <a:off x="8577072" y="437997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Modulo in uso: "Duplica e modifica" (amministratore)</a:t>
            </a:r>
            <a:endParaRPr lang="en-US" sz="1400" dirty="0"/>
          </a:p>
        </p:txBody>
      </p:sp>
      <p:sp>
        <p:nvSpPr>
          <p:cNvPr id="19" name="consiglio"/>
          <p:cNvSpPr/>
          <p:nvPr/>
        </p:nvSpPr>
        <p:spPr>
          <a:xfrm>
            <a:off x="548640" y="5540693"/>
            <a:ext cx="11094415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pic>
        <p:nvPicPr>
          <p:cNvPr id="20" name="Image 1" descr="Consigl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05285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188720" y="5540693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Consiglio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un'opzione che contiene "Non conforme" attiva da sola la proposta di task e la notifica all'ufficio.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Importare un PCQ da Word</a:t>
            </a:r>
            <a:endParaRPr lang="en-US" sz="3200" dirty="0"/>
          </a:p>
        </p:txBody>
      </p:sp>
      <p:sp>
        <p:nvSpPr>
          <p:cNvPr id="3" name="cornice schermata"/>
          <p:cNvSpPr/>
          <p:nvPr/>
        </p:nvSpPr>
        <p:spPr>
          <a:xfrm>
            <a:off x="512064" y="1243584"/>
            <a:ext cx="7159752" cy="4059365"/>
          </a:xfrm>
          <a:prstGeom prst="rect">
            <a:avLst/>
          </a:prstGeom>
          <a:solidFill>
            <a:schemeClr val="bg1"/>
          </a:solidFill>
          <a:ln w="9525">
            <a:solidFill>
              <a:srgbClr val="D3D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C4577">
                <a:alpha val="18000"/>
              </a:srgbClr>
            </a:outerShdw>
          </a:effectLst>
        </p:spPr>
      </p:sp>
      <p:pic>
        <p:nvPicPr>
          <p:cNvPr id="4" name="schermata" descr="Schermata di InCampo: importa pc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086600" cy="3986213"/>
          </a:xfrm>
          <a:prstGeom prst="rect">
            <a:avLst/>
          </a:prstGeom>
        </p:spPr>
      </p:pic>
      <p:sp>
        <p:nvSpPr>
          <p:cNvPr id="5" name="chi lo usa"/>
          <p:cNvSpPr/>
          <p:nvPr/>
        </p:nvSpPr>
        <p:spPr>
          <a:xfrm>
            <a:off x="8046720" y="1280160"/>
            <a:ext cx="3596335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11312" y="1280160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Chi: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amministratore</a:t>
            </a:r>
            <a:endParaRPr lang="en-US" sz="1300" dirty="0"/>
          </a:p>
        </p:txBody>
      </p:sp>
      <p:sp>
        <p:nvSpPr>
          <p:cNvPr id="7" name="numero 1"/>
          <p:cNvSpPr/>
          <p:nvPr/>
        </p:nvSpPr>
        <p:spPr>
          <a:xfrm>
            <a:off x="8046720" y="196596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467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passo 1"/>
          <p:cNvSpPr txBox="1"/>
          <p:nvPr/>
        </p:nvSpPr>
        <p:spPr>
          <a:xfrm>
            <a:off x="8577072" y="191109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Nuovo modulo → "Importa da PCQ"</a:t>
            </a:r>
            <a:endParaRPr lang="en-US" sz="1400" dirty="0"/>
          </a:p>
        </p:txBody>
      </p:sp>
      <p:sp>
        <p:nvSpPr>
          <p:cNvPr id="10" name="numero 2"/>
          <p:cNvSpPr/>
          <p:nvPr/>
        </p:nvSpPr>
        <p:spPr>
          <a:xfrm>
            <a:off x="8046720" y="27889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04672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passo 2"/>
          <p:cNvSpPr txBox="1"/>
          <p:nvPr/>
        </p:nvSpPr>
        <p:spPr>
          <a:xfrm>
            <a:off x="8577072" y="273405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Trascina il Word (.docx) o il PDF nel riquadro</a:t>
            </a:r>
            <a:endParaRPr lang="en-US" sz="1400" dirty="0"/>
          </a:p>
        </p:txBody>
      </p:sp>
      <p:sp>
        <p:nvSpPr>
          <p:cNvPr id="13" name="numero 3"/>
          <p:cNvSpPr/>
          <p:nvPr/>
        </p:nvSpPr>
        <p:spPr>
          <a:xfrm>
            <a:off x="8046720" y="36118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passo 3"/>
          <p:cNvSpPr txBox="1"/>
          <p:nvPr/>
        </p:nvSpPr>
        <p:spPr>
          <a:xfrm>
            <a:off x="8577072" y="355701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Controlla il riepilogo: sezioni e numero di campi</a:t>
            </a:r>
            <a:endParaRPr lang="en-US" sz="1400" dirty="0"/>
          </a:p>
        </p:txBody>
      </p:sp>
      <p:sp>
        <p:nvSpPr>
          <p:cNvPr id="16" name="numero 4"/>
          <p:cNvSpPr/>
          <p:nvPr/>
        </p:nvSpPr>
        <p:spPr>
          <a:xfrm>
            <a:off x="8046720" y="44348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4672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passo 4"/>
          <p:cNvSpPr txBox="1"/>
          <p:nvPr/>
        </p:nvSpPr>
        <p:spPr>
          <a:xfrm>
            <a:off x="8577072" y="437997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"Crea il modulo dal PCQ", rivedi e salva</a:t>
            </a:r>
            <a:endParaRPr lang="en-US" sz="1400" dirty="0"/>
          </a:p>
        </p:txBody>
      </p:sp>
      <p:sp>
        <p:nvSpPr>
          <p:cNvPr id="19" name="consiglio"/>
          <p:cNvSpPr/>
          <p:nvPr/>
        </p:nvSpPr>
        <p:spPr>
          <a:xfrm>
            <a:off x="548640" y="5540693"/>
            <a:ext cx="11094415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pic>
        <p:nvPicPr>
          <p:cNvPr id="20" name="Image 1" descr="Consigl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05285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188720" y="5540693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Consiglio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ogni controllo diventa Conforme / Non conforme / Non applicabile; frequenza, criterio e responsabile vanno nell'aiuto.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Struttura del PCQ</a:t>
            </a:r>
            <a:endParaRPr lang="en-US" sz="3200" dirty="0"/>
          </a:p>
        </p:txBody>
      </p:sp>
      <p:sp>
        <p:nvSpPr>
          <p:cNvPr id="3" name="cornice schermata"/>
          <p:cNvSpPr/>
          <p:nvPr/>
        </p:nvSpPr>
        <p:spPr>
          <a:xfrm>
            <a:off x="512064" y="1243584"/>
            <a:ext cx="7159752" cy="4059365"/>
          </a:xfrm>
          <a:prstGeom prst="rect">
            <a:avLst/>
          </a:prstGeom>
          <a:solidFill>
            <a:schemeClr val="bg1"/>
          </a:solidFill>
          <a:ln w="9525">
            <a:solidFill>
              <a:srgbClr val="D3D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C4577">
                <a:alpha val="18000"/>
              </a:srgbClr>
            </a:outerShdw>
          </a:effectLst>
        </p:spPr>
      </p:sp>
      <p:pic>
        <p:nvPicPr>
          <p:cNvPr id="4" name="schermata" descr="Schermata di InCampo: struttura pc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086600" cy="3986213"/>
          </a:xfrm>
          <a:prstGeom prst="rect">
            <a:avLst/>
          </a:prstGeom>
        </p:spPr>
      </p:pic>
      <p:sp>
        <p:nvSpPr>
          <p:cNvPr id="5" name="chi lo usa"/>
          <p:cNvSpPr/>
          <p:nvPr/>
        </p:nvSpPr>
        <p:spPr>
          <a:xfrm>
            <a:off x="8046720" y="1280160"/>
            <a:ext cx="3596335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11312" y="1280160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Chi: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amministratore</a:t>
            </a:r>
            <a:endParaRPr lang="en-US" sz="1300" dirty="0"/>
          </a:p>
        </p:txBody>
      </p:sp>
      <p:sp>
        <p:nvSpPr>
          <p:cNvPr id="7" name="numero 1"/>
          <p:cNvSpPr/>
          <p:nvPr/>
        </p:nvSpPr>
        <p:spPr>
          <a:xfrm>
            <a:off x="8046720" y="196596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467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passo 1"/>
          <p:cNvSpPr txBox="1"/>
          <p:nvPr/>
        </p:nvSpPr>
        <p:spPr>
          <a:xfrm>
            <a:off x="8577072" y="191109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Moduli → "Struttura PCQ"</a:t>
            </a:r>
            <a:endParaRPr lang="en-US" sz="1400" dirty="0"/>
          </a:p>
        </p:txBody>
      </p:sp>
      <p:sp>
        <p:nvSpPr>
          <p:cNvPr id="10" name="numero 2"/>
          <p:cNvSpPr/>
          <p:nvPr/>
        </p:nvSpPr>
        <p:spPr>
          <a:xfrm>
            <a:off x="8046720" y="27889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04672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passo 2"/>
          <p:cNvSpPr txBox="1"/>
          <p:nvPr/>
        </p:nvSpPr>
        <p:spPr>
          <a:xfrm>
            <a:off x="8577072" y="273405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Leggi le regole del file e le colonne riconosciute</a:t>
            </a:r>
            <a:endParaRPr lang="en-US" sz="1400" dirty="0"/>
          </a:p>
        </p:txBody>
      </p:sp>
      <p:sp>
        <p:nvSpPr>
          <p:cNvPr id="13" name="numero 3"/>
          <p:cNvSpPr/>
          <p:nvPr/>
        </p:nvSpPr>
        <p:spPr>
          <a:xfrm>
            <a:off x="8046720" y="36118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passo 3"/>
          <p:cNvSpPr txBox="1"/>
          <p:nvPr/>
        </p:nvSpPr>
        <p:spPr>
          <a:xfrm>
            <a:off x="8577072" y="355701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sinistra il Word di esempio, a destra il modulo</a:t>
            </a:r>
            <a:endParaRPr lang="en-US" sz="1400" dirty="0"/>
          </a:p>
        </p:txBody>
      </p:sp>
      <p:sp>
        <p:nvSpPr>
          <p:cNvPr id="16" name="numero 4"/>
          <p:cNvSpPr/>
          <p:nvPr/>
        </p:nvSpPr>
        <p:spPr>
          <a:xfrm>
            <a:off x="8046720" y="44348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4672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passo 4"/>
          <p:cNvSpPr txBox="1"/>
          <p:nvPr/>
        </p:nvSpPr>
        <p:spPr>
          <a:xfrm>
            <a:off x="8577072" y="437997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"Scarica l'esempio Word" e sostituisci i testi</a:t>
            </a:r>
            <a:endParaRPr lang="en-US" sz="1400" dirty="0"/>
          </a:p>
        </p:txBody>
      </p:sp>
      <p:sp>
        <p:nvSpPr>
          <p:cNvPr id="19" name="consiglio"/>
          <p:cNvSpPr/>
          <p:nvPr/>
        </p:nvSpPr>
        <p:spPr>
          <a:xfrm>
            <a:off x="548640" y="5540693"/>
            <a:ext cx="11094415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pic>
        <p:nvPicPr>
          <p:cNvPr id="20" name="Image 1" descr="Consigl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05285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188720" y="5540693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Consiglio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il Word funziona meglio del PDF: dal PDF arriva solo il testo, e i PDF scansionati non si leggono.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PCQ del cantiere</a:t>
            </a:r>
            <a:endParaRPr lang="en-US" sz="3200" dirty="0"/>
          </a:p>
        </p:txBody>
      </p:sp>
      <p:sp>
        <p:nvSpPr>
          <p:cNvPr id="3" name="cornice schermata"/>
          <p:cNvSpPr/>
          <p:nvPr/>
        </p:nvSpPr>
        <p:spPr>
          <a:xfrm>
            <a:off x="512064" y="1243584"/>
            <a:ext cx="7159752" cy="4059365"/>
          </a:xfrm>
          <a:prstGeom prst="rect">
            <a:avLst/>
          </a:prstGeom>
          <a:solidFill>
            <a:schemeClr val="bg1"/>
          </a:solidFill>
          <a:ln w="9525">
            <a:solidFill>
              <a:srgbClr val="D3D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C4577">
                <a:alpha val="18000"/>
              </a:srgbClr>
            </a:outerShdw>
          </a:effectLst>
        </p:spPr>
      </p:sp>
      <p:pic>
        <p:nvPicPr>
          <p:cNvPr id="4" name="schermata" descr="Schermata di InCampo: pcq cantie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086600" cy="3986213"/>
          </a:xfrm>
          <a:prstGeom prst="rect">
            <a:avLst/>
          </a:prstGeom>
        </p:spPr>
      </p:pic>
      <p:sp>
        <p:nvSpPr>
          <p:cNvPr id="5" name="chi lo usa"/>
          <p:cNvSpPr/>
          <p:nvPr/>
        </p:nvSpPr>
        <p:spPr>
          <a:xfrm>
            <a:off x="8046720" y="1280160"/>
            <a:ext cx="3596335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11312" y="1280160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Chi: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ufficio (crea modulo: amministratore)</a:t>
            </a:r>
            <a:endParaRPr lang="en-US" sz="1300" dirty="0"/>
          </a:p>
        </p:txBody>
      </p:sp>
      <p:sp>
        <p:nvSpPr>
          <p:cNvPr id="7" name="numero 1"/>
          <p:cNvSpPr/>
          <p:nvPr/>
        </p:nvSpPr>
        <p:spPr>
          <a:xfrm>
            <a:off x="8046720" y="196596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467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passo 1"/>
          <p:cNvSpPr txBox="1"/>
          <p:nvPr/>
        </p:nvSpPr>
        <p:spPr>
          <a:xfrm>
            <a:off x="8577072" y="191109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Menu del cantiere → PCQ</a:t>
            </a:r>
            <a:endParaRPr lang="en-US" sz="1400" dirty="0"/>
          </a:p>
        </p:txBody>
      </p:sp>
      <p:sp>
        <p:nvSpPr>
          <p:cNvPr id="10" name="numero 2"/>
          <p:cNvSpPr/>
          <p:nvPr/>
        </p:nvSpPr>
        <p:spPr>
          <a:xfrm>
            <a:off x="8046720" y="27889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04672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passo 2"/>
          <p:cNvSpPr txBox="1"/>
          <p:nvPr/>
        </p:nvSpPr>
        <p:spPr>
          <a:xfrm>
            <a:off x="8577072" y="273405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Trascina uno o più Word o PDF insieme</a:t>
            </a:r>
            <a:endParaRPr lang="en-US" sz="1400" dirty="0"/>
          </a:p>
        </p:txBody>
      </p:sp>
      <p:sp>
        <p:nvSpPr>
          <p:cNvPr id="13" name="numero 3"/>
          <p:cNvSpPr/>
          <p:nvPr/>
        </p:nvSpPr>
        <p:spPr>
          <a:xfrm>
            <a:off x="8046720" y="36118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passo 3"/>
          <p:cNvSpPr txBox="1"/>
          <p:nvPr/>
        </p:nvSpPr>
        <p:spPr>
          <a:xfrm>
            <a:off x="8577072" y="355701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Anteprima: titoli, tabelle e testo letti dal file</a:t>
            </a:r>
            <a:endParaRPr lang="en-US" sz="1400" dirty="0"/>
          </a:p>
        </p:txBody>
      </p:sp>
      <p:sp>
        <p:nvSpPr>
          <p:cNvPr id="16" name="numero 4"/>
          <p:cNvSpPr/>
          <p:nvPr/>
        </p:nvSpPr>
        <p:spPr>
          <a:xfrm>
            <a:off x="8046720" y="44348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4672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passo 4"/>
          <p:cNvSpPr txBox="1"/>
          <p:nvPr/>
        </p:nvSpPr>
        <p:spPr>
          <a:xfrm>
            <a:off x="8577072" y="437997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Amministratore: "Crea modulo" apre l'editor già pronto</a:t>
            </a:r>
            <a:endParaRPr lang="en-US" sz="1400" dirty="0"/>
          </a:p>
        </p:txBody>
      </p:sp>
      <p:sp>
        <p:nvSpPr>
          <p:cNvPr id="19" name="consiglio"/>
          <p:cNvSpPr/>
          <p:nvPr/>
        </p:nvSpPr>
        <p:spPr>
          <a:xfrm>
            <a:off x="548640" y="5540693"/>
            <a:ext cx="11094415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pic>
        <p:nvPicPr>
          <p:cNvPr id="20" name="Image 1" descr="Consigl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05285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188720" y="5540693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Consiglio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 file sono letti uno alla volta, fino a 20 MB ciascuno; i .doc vecchi vanno salvati come .docx.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5544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Amministrazione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7490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Accessi, utenti e controllo delle attività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Inviti ed etichette</a:t>
            </a:r>
            <a:endParaRPr lang="en-US" sz="3200" dirty="0"/>
          </a:p>
        </p:txBody>
      </p:sp>
      <p:sp>
        <p:nvSpPr>
          <p:cNvPr id="3" name="cornice schermata"/>
          <p:cNvSpPr/>
          <p:nvPr/>
        </p:nvSpPr>
        <p:spPr>
          <a:xfrm>
            <a:off x="512064" y="1243584"/>
            <a:ext cx="5391760" cy="3064869"/>
          </a:xfrm>
          <a:prstGeom prst="rect">
            <a:avLst/>
          </a:prstGeom>
          <a:solidFill>
            <a:schemeClr val="bg1"/>
          </a:solidFill>
          <a:ln w="9525">
            <a:solidFill>
              <a:srgbClr val="D3D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C4577">
                <a:alpha val="18000"/>
              </a:srgbClr>
            </a:outerShdw>
          </a:effectLst>
        </p:spPr>
      </p:sp>
      <p:pic>
        <p:nvPicPr>
          <p:cNvPr id="4" name="schermata" descr="Schermata di InCampo: etichet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318608" cy="2991717"/>
          </a:xfrm>
          <a:prstGeom prst="rect">
            <a:avLst/>
          </a:prstGeom>
        </p:spPr>
      </p:pic>
      <p:sp>
        <p:nvSpPr>
          <p:cNvPr id="5" name="cornice schermata"/>
          <p:cNvSpPr/>
          <p:nvPr/>
        </p:nvSpPr>
        <p:spPr>
          <a:xfrm>
            <a:off x="6287872" y="1243584"/>
            <a:ext cx="5391760" cy="3064869"/>
          </a:xfrm>
          <a:prstGeom prst="rect">
            <a:avLst/>
          </a:prstGeom>
          <a:solidFill>
            <a:schemeClr val="bg1"/>
          </a:solidFill>
          <a:ln w="9525">
            <a:solidFill>
              <a:srgbClr val="D3D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C4577">
                <a:alpha val="18000"/>
              </a:srgbClr>
            </a:outerShdw>
          </a:effectLst>
        </p:spPr>
      </p:sp>
      <p:pic>
        <p:nvPicPr>
          <p:cNvPr id="6" name="schermata" descr="Schermata di InCampo: invit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280160"/>
            <a:ext cx="5318608" cy="2991717"/>
          </a:xfrm>
          <a:prstGeom prst="rect">
            <a:avLst/>
          </a:prstGeom>
        </p:spPr>
      </p:pic>
      <p:sp>
        <p:nvSpPr>
          <p:cNvPr id="7" name="chi lo usa"/>
          <p:cNvSpPr/>
          <p:nvPr/>
        </p:nvSpPr>
        <p:spPr>
          <a:xfrm>
            <a:off x="548640" y="4591917"/>
            <a:ext cx="274320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713232" y="4591917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Chi: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amministratore</a:t>
            </a:r>
            <a:endParaRPr lang="en-US" sz="1300" dirty="0"/>
          </a:p>
        </p:txBody>
      </p:sp>
      <p:sp>
        <p:nvSpPr>
          <p:cNvPr id="9" name="chi lo usa"/>
          <p:cNvSpPr/>
          <p:nvPr/>
        </p:nvSpPr>
        <p:spPr>
          <a:xfrm>
            <a:off x="6324448" y="4591917"/>
            <a:ext cx="329184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489040" y="4591917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Chi: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ufficio e amministratore</a:t>
            </a:r>
            <a:endParaRPr lang="en-US" sz="1300" dirty="0"/>
          </a:p>
        </p:txBody>
      </p:sp>
      <p:sp>
        <p:nvSpPr>
          <p:cNvPr id="11" name="numero 1"/>
          <p:cNvSpPr/>
          <p:nvPr/>
        </p:nvSpPr>
        <p:spPr>
          <a:xfrm>
            <a:off x="548640" y="5186277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48640" y="518627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passo 1"/>
          <p:cNvSpPr txBox="1"/>
          <p:nvPr/>
        </p:nvSpPr>
        <p:spPr>
          <a:xfrm>
            <a:off x="1078992" y="5131413"/>
            <a:ext cx="47882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Etichetta = mansione: ruolo, cantieri o commesse, notifiche</a:t>
            </a:r>
            <a:endParaRPr lang="en-US" sz="1400" dirty="0"/>
          </a:p>
        </p:txBody>
      </p:sp>
      <p:sp>
        <p:nvSpPr>
          <p:cNvPr id="14" name="numero 2"/>
          <p:cNvSpPr/>
          <p:nvPr/>
        </p:nvSpPr>
        <p:spPr>
          <a:xfrm>
            <a:off x="548640" y="5844645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548640" y="584464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passo 2"/>
          <p:cNvSpPr txBox="1"/>
          <p:nvPr/>
        </p:nvSpPr>
        <p:spPr>
          <a:xfrm>
            <a:off x="1078992" y="5789781"/>
            <a:ext cx="47882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Solo l'amministratore le crea e le modifica</a:t>
            </a:r>
            <a:endParaRPr lang="en-US" sz="1400" dirty="0"/>
          </a:p>
        </p:txBody>
      </p:sp>
      <p:sp>
        <p:nvSpPr>
          <p:cNvPr id="17" name="numero 1"/>
          <p:cNvSpPr/>
          <p:nvPr/>
        </p:nvSpPr>
        <p:spPr>
          <a:xfrm>
            <a:off x="6324448" y="5186277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324448" y="518627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9" name="passo 1"/>
          <p:cNvSpPr txBox="1"/>
          <p:nvPr/>
        </p:nvSpPr>
        <p:spPr>
          <a:xfrm>
            <a:off x="6854800" y="5131413"/>
            <a:ext cx="47882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"+ Nuovo invito": email ed etichetta; il link vale 7 giorni, una volta</a:t>
            </a:r>
            <a:endParaRPr lang="en-US" sz="1400" dirty="0"/>
          </a:p>
        </p:txBody>
      </p:sp>
      <p:sp>
        <p:nvSpPr>
          <p:cNvPr id="20" name="numero 2"/>
          <p:cNvSpPr/>
          <p:nvPr/>
        </p:nvSpPr>
        <p:spPr>
          <a:xfrm>
            <a:off x="6324448" y="5844645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324448" y="584464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2" name="passo 2"/>
          <p:cNvSpPr txBox="1"/>
          <p:nvPr/>
        </p:nvSpPr>
        <p:spPr>
          <a:xfrm>
            <a:off x="6854800" y="5789781"/>
            <a:ext cx="47882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"Rimanda" crea un link nuovo, "Revoca" lo spegne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Utenti</a:t>
            </a:r>
            <a:endParaRPr lang="en-US" sz="3200" dirty="0"/>
          </a:p>
        </p:txBody>
      </p:sp>
      <p:sp>
        <p:nvSpPr>
          <p:cNvPr id="3" name="cornice schermata"/>
          <p:cNvSpPr/>
          <p:nvPr/>
        </p:nvSpPr>
        <p:spPr>
          <a:xfrm>
            <a:off x="512064" y="1243584"/>
            <a:ext cx="7159752" cy="4059365"/>
          </a:xfrm>
          <a:prstGeom prst="rect">
            <a:avLst/>
          </a:prstGeom>
          <a:solidFill>
            <a:schemeClr val="bg1"/>
          </a:solidFill>
          <a:ln w="9525">
            <a:solidFill>
              <a:srgbClr val="D3D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C4577">
                <a:alpha val="18000"/>
              </a:srgbClr>
            </a:outerShdw>
          </a:effectLst>
        </p:spPr>
      </p:sp>
      <p:pic>
        <p:nvPicPr>
          <p:cNvPr id="4" name="schermata" descr="Schermata di InCampo: utent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086600" cy="3986213"/>
          </a:xfrm>
          <a:prstGeom prst="rect">
            <a:avLst/>
          </a:prstGeom>
        </p:spPr>
      </p:pic>
      <p:sp>
        <p:nvSpPr>
          <p:cNvPr id="5" name="chi lo usa"/>
          <p:cNvSpPr/>
          <p:nvPr/>
        </p:nvSpPr>
        <p:spPr>
          <a:xfrm>
            <a:off x="8046720" y="1280160"/>
            <a:ext cx="3596335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11312" y="1280160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Chi: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amministratore</a:t>
            </a:r>
            <a:endParaRPr lang="en-US" sz="1300" dirty="0"/>
          </a:p>
        </p:txBody>
      </p:sp>
      <p:sp>
        <p:nvSpPr>
          <p:cNvPr id="7" name="numero 1"/>
          <p:cNvSpPr/>
          <p:nvPr/>
        </p:nvSpPr>
        <p:spPr>
          <a:xfrm>
            <a:off x="8046720" y="196596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467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passo 1"/>
          <p:cNvSpPr txBox="1"/>
          <p:nvPr/>
        </p:nvSpPr>
        <p:spPr>
          <a:xfrm>
            <a:off x="8577072" y="191109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"+ Nuovo utente": email o nome utente, nome, password, ruolo</a:t>
            </a:r>
            <a:endParaRPr lang="en-US" sz="1400" dirty="0"/>
          </a:p>
        </p:txBody>
      </p:sp>
      <p:sp>
        <p:nvSpPr>
          <p:cNvPr id="10" name="numero 2"/>
          <p:cNvSpPr/>
          <p:nvPr/>
        </p:nvSpPr>
        <p:spPr>
          <a:xfrm>
            <a:off x="8046720" y="27889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04672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passo 2"/>
          <p:cNvSpPr txBox="1"/>
          <p:nvPr/>
        </p:nvSpPr>
        <p:spPr>
          <a:xfrm>
            <a:off x="8577072" y="273405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"Modifica": nome e ruolo</a:t>
            </a:r>
            <a:endParaRPr lang="en-US" sz="1400" dirty="0"/>
          </a:p>
        </p:txBody>
      </p:sp>
      <p:sp>
        <p:nvSpPr>
          <p:cNvPr id="13" name="numero 3"/>
          <p:cNvSpPr/>
          <p:nvPr/>
        </p:nvSpPr>
        <p:spPr>
          <a:xfrm>
            <a:off x="8046720" y="36118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passo 3"/>
          <p:cNvSpPr txBox="1"/>
          <p:nvPr/>
        </p:nvSpPr>
        <p:spPr>
          <a:xfrm>
            <a:off x="8577072" y="355701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"Password": reset, da comunicare di persona</a:t>
            </a:r>
            <a:endParaRPr lang="en-US" sz="1400" dirty="0"/>
          </a:p>
        </p:txBody>
      </p:sp>
      <p:sp>
        <p:nvSpPr>
          <p:cNvPr id="16" name="numero 4"/>
          <p:cNvSpPr/>
          <p:nvPr/>
        </p:nvSpPr>
        <p:spPr>
          <a:xfrm>
            <a:off x="8046720" y="44348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4672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passo 4"/>
          <p:cNvSpPr txBox="1"/>
          <p:nvPr/>
        </p:nvSpPr>
        <p:spPr>
          <a:xfrm>
            <a:off x="8577072" y="437997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"Disattiva": non entra più, i suoi dati restano</a:t>
            </a:r>
            <a:endParaRPr lang="en-US" sz="1400" dirty="0"/>
          </a:p>
        </p:txBody>
      </p:sp>
      <p:sp>
        <p:nvSpPr>
          <p:cNvPr id="19" name="consiglio"/>
          <p:cNvSpPr/>
          <p:nvPr/>
        </p:nvSpPr>
        <p:spPr>
          <a:xfrm>
            <a:off x="548640" y="5540693"/>
            <a:ext cx="11094415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pic>
        <p:nvPicPr>
          <p:cNvPr id="20" name="Image 1" descr="Consigl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05285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188720" y="5540693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Consiglio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 ogni utente vedi stato, ultimo accesso e numero di operazioni: utile per capire chi usa davvero l'app.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operazioni</a:t>
            </a:r>
            <a:endParaRPr lang="en-US" sz="3200" dirty="0"/>
          </a:p>
        </p:txBody>
      </p:sp>
      <p:sp>
        <p:nvSpPr>
          <p:cNvPr id="3" name="cornice schermata"/>
          <p:cNvSpPr/>
          <p:nvPr/>
        </p:nvSpPr>
        <p:spPr>
          <a:xfrm>
            <a:off x="512064" y="1243584"/>
            <a:ext cx="7159752" cy="4059365"/>
          </a:xfrm>
          <a:prstGeom prst="rect">
            <a:avLst/>
          </a:prstGeom>
          <a:solidFill>
            <a:schemeClr val="bg1"/>
          </a:solidFill>
          <a:ln w="9525">
            <a:solidFill>
              <a:srgbClr val="D3D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C4577">
                <a:alpha val="18000"/>
              </a:srgbClr>
            </a:outerShdw>
          </a:effectLst>
        </p:spPr>
      </p:sp>
      <p:pic>
        <p:nvPicPr>
          <p:cNvPr id="4" name="schermata" descr="Schermata di InCampo: regist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086600" cy="3986213"/>
          </a:xfrm>
          <a:prstGeom prst="rect">
            <a:avLst/>
          </a:prstGeom>
        </p:spPr>
      </p:pic>
      <p:sp>
        <p:nvSpPr>
          <p:cNvPr id="5" name="chi lo usa"/>
          <p:cNvSpPr/>
          <p:nvPr/>
        </p:nvSpPr>
        <p:spPr>
          <a:xfrm>
            <a:off x="8046720" y="1280160"/>
            <a:ext cx="3596335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11312" y="1280160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Chi: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amministratore</a:t>
            </a:r>
            <a:endParaRPr lang="en-US" sz="1300" dirty="0"/>
          </a:p>
        </p:txBody>
      </p:sp>
      <p:sp>
        <p:nvSpPr>
          <p:cNvPr id="7" name="numero 1"/>
          <p:cNvSpPr/>
          <p:nvPr/>
        </p:nvSpPr>
        <p:spPr>
          <a:xfrm>
            <a:off x="8046720" y="196596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467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passo 1"/>
          <p:cNvSpPr txBox="1"/>
          <p:nvPr/>
        </p:nvSpPr>
        <p:spPr>
          <a:xfrm>
            <a:off x="8577072" y="191109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Chi ha fatto cosa, quando e da quale indirizzo IP</a:t>
            </a:r>
            <a:endParaRPr lang="en-US" sz="1400" dirty="0"/>
          </a:p>
        </p:txBody>
      </p:sp>
      <p:sp>
        <p:nvSpPr>
          <p:cNvPr id="10" name="numero 2"/>
          <p:cNvSpPr/>
          <p:nvPr/>
        </p:nvSpPr>
        <p:spPr>
          <a:xfrm>
            <a:off x="8046720" y="27889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04672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passo 2"/>
          <p:cNvSpPr txBox="1"/>
          <p:nvPr/>
        </p:nvSpPr>
        <p:spPr>
          <a:xfrm>
            <a:off x="8577072" y="273405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Filtri: utente, azione, progetto, periodo, testo</a:t>
            </a:r>
            <a:endParaRPr lang="en-US" sz="1400" dirty="0"/>
          </a:p>
        </p:txBody>
      </p:sp>
      <p:sp>
        <p:nvSpPr>
          <p:cNvPr id="13" name="numero 3"/>
          <p:cNvSpPr/>
          <p:nvPr/>
        </p:nvSpPr>
        <p:spPr>
          <a:xfrm>
            <a:off x="8046720" y="36118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passo 3"/>
          <p:cNvSpPr txBox="1"/>
          <p:nvPr/>
        </p:nvSpPr>
        <p:spPr>
          <a:xfrm>
            <a:off x="8577072" y="355701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Clic su una riga: dettaglio e storia dell'elemento</a:t>
            </a:r>
            <a:endParaRPr lang="en-US" sz="1400" dirty="0"/>
          </a:p>
        </p:txBody>
      </p:sp>
      <p:sp>
        <p:nvSpPr>
          <p:cNvPr id="16" name="numero 4"/>
          <p:cNvSpPr/>
          <p:nvPr/>
        </p:nvSpPr>
        <p:spPr>
          <a:xfrm>
            <a:off x="8046720" y="44348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4672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passo 4"/>
          <p:cNvSpPr txBox="1"/>
          <p:nvPr/>
        </p:nvSpPr>
        <p:spPr>
          <a:xfrm>
            <a:off x="8577072" y="4379976"/>
            <a:ext cx="306598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"Esporta CSV" per archiviare o analizzare</a:t>
            </a:r>
            <a:endParaRPr lang="en-US" sz="1400" dirty="0"/>
          </a:p>
        </p:txBody>
      </p:sp>
      <p:sp>
        <p:nvSpPr>
          <p:cNvPr id="19" name="consiglio"/>
          <p:cNvSpPr/>
          <p:nvPr/>
        </p:nvSpPr>
        <p:spPr>
          <a:xfrm>
            <a:off x="548640" y="5540693"/>
            <a:ext cx="11094415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pic>
        <p:nvPicPr>
          <p:cNvPr id="20" name="Image 1" descr="Consigl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05285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188720" y="5540693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Consiglio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il registro non si cancella mai e include anche gli accessi falliti.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Parametri commessa e segnalazioni</a:t>
            </a:r>
            <a:endParaRPr lang="en-US" sz="3200" dirty="0"/>
          </a:p>
        </p:txBody>
      </p:sp>
      <p:sp>
        <p:nvSpPr>
          <p:cNvPr id="3" name="cornice schermata"/>
          <p:cNvSpPr/>
          <p:nvPr/>
        </p:nvSpPr>
        <p:spPr>
          <a:xfrm>
            <a:off x="512064" y="1243584"/>
            <a:ext cx="5391760" cy="3064869"/>
          </a:xfrm>
          <a:prstGeom prst="rect">
            <a:avLst/>
          </a:prstGeom>
          <a:solidFill>
            <a:schemeClr val="bg1"/>
          </a:solidFill>
          <a:ln w="9525">
            <a:solidFill>
              <a:srgbClr val="D3D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C4577">
                <a:alpha val="18000"/>
              </a:srgbClr>
            </a:outerShdw>
          </a:effectLst>
        </p:spPr>
      </p:sp>
      <p:pic>
        <p:nvPicPr>
          <p:cNvPr id="4" name="schermata" descr="Schermata di InCampo: parametr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318608" cy="2991717"/>
          </a:xfrm>
          <a:prstGeom prst="rect">
            <a:avLst/>
          </a:prstGeom>
        </p:spPr>
      </p:pic>
      <p:sp>
        <p:nvSpPr>
          <p:cNvPr id="5" name="cornice schermata"/>
          <p:cNvSpPr/>
          <p:nvPr/>
        </p:nvSpPr>
        <p:spPr>
          <a:xfrm>
            <a:off x="6287872" y="1243584"/>
            <a:ext cx="5391760" cy="3064869"/>
          </a:xfrm>
          <a:prstGeom prst="rect">
            <a:avLst/>
          </a:prstGeom>
          <a:solidFill>
            <a:schemeClr val="bg1"/>
          </a:solidFill>
          <a:ln w="9525">
            <a:solidFill>
              <a:srgbClr val="D3D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C4577">
                <a:alpha val="18000"/>
              </a:srgbClr>
            </a:outerShdw>
          </a:effectLst>
        </p:spPr>
      </p:sp>
      <p:pic>
        <p:nvPicPr>
          <p:cNvPr id="6" name="schermata" descr="Schermata di InCampo: segnalazion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280160"/>
            <a:ext cx="5318608" cy="2991717"/>
          </a:xfrm>
          <a:prstGeom prst="rect">
            <a:avLst/>
          </a:prstGeom>
        </p:spPr>
      </p:pic>
      <p:sp>
        <p:nvSpPr>
          <p:cNvPr id="7" name="chi lo usa"/>
          <p:cNvSpPr/>
          <p:nvPr/>
        </p:nvSpPr>
        <p:spPr>
          <a:xfrm>
            <a:off x="548640" y="4591917"/>
            <a:ext cx="274320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713232" y="4591917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Chi: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amministratore</a:t>
            </a:r>
            <a:endParaRPr lang="en-US" sz="1300" dirty="0"/>
          </a:p>
        </p:txBody>
      </p:sp>
      <p:sp>
        <p:nvSpPr>
          <p:cNvPr id="9" name="chi lo usa"/>
          <p:cNvSpPr/>
          <p:nvPr/>
        </p:nvSpPr>
        <p:spPr>
          <a:xfrm>
            <a:off x="6324448" y="4591917"/>
            <a:ext cx="274320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489040" y="4591917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Chi: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amministratore</a:t>
            </a:r>
            <a:endParaRPr lang="en-US" sz="1300" dirty="0"/>
          </a:p>
        </p:txBody>
      </p:sp>
      <p:sp>
        <p:nvSpPr>
          <p:cNvPr id="11" name="numero 1"/>
          <p:cNvSpPr/>
          <p:nvPr/>
        </p:nvSpPr>
        <p:spPr>
          <a:xfrm>
            <a:off x="548640" y="5186277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48640" y="518627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passo 1"/>
          <p:cNvSpPr txBox="1"/>
          <p:nvPr/>
        </p:nvSpPr>
        <p:spPr>
          <a:xfrm>
            <a:off x="1078992" y="5131413"/>
            <a:ext cx="47882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Campi a scelta per le commesse, es. "Tipologia lavori"</a:t>
            </a:r>
            <a:endParaRPr lang="en-US" sz="1400" dirty="0"/>
          </a:p>
        </p:txBody>
      </p:sp>
      <p:sp>
        <p:nvSpPr>
          <p:cNvPr id="14" name="numero 2"/>
          <p:cNvSpPr/>
          <p:nvPr/>
        </p:nvSpPr>
        <p:spPr>
          <a:xfrm>
            <a:off x="548640" y="5844645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548640" y="584464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passo 2"/>
          <p:cNvSpPr txBox="1"/>
          <p:nvPr/>
        </p:nvSpPr>
        <p:spPr>
          <a:xfrm>
            <a:off x="1078992" y="5789781"/>
            <a:ext cx="47882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Ogni commessa li valorizza; in Progetti sono filtri</a:t>
            </a:r>
            <a:endParaRPr lang="en-US" sz="1400" dirty="0"/>
          </a:p>
        </p:txBody>
      </p:sp>
      <p:sp>
        <p:nvSpPr>
          <p:cNvPr id="17" name="numero 1"/>
          <p:cNvSpPr/>
          <p:nvPr/>
        </p:nvSpPr>
        <p:spPr>
          <a:xfrm>
            <a:off x="6324448" y="5186277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324448" y="518627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9" name="passo 1"/>
          <p:cNvSpPr txBox="1"/>
          <p:nvPr/>
        </p:nvSpPr>
        <p:spPr>
          <a:xfrm>
            <a:off x="6854800" y="5131413"/>
            <a:ext cx="47882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Messaggi di "Contatta l'amministratore", con cantiere e pagina</a:t>
            </a:r>
            <a:endParaRPr lang="en-US" sz="1400" dirty="0"/>
          </a:p>
        </p:txBody>
      </p:sp>
      <p:sp>
        <p:nvSpPr>
          <p:cNvPr id="20" name="numero 2"/>
          <p:cNvSpPr/>
          <p:nvPr/>
        </p:nvSpPr>
        <p:spPr>
          <a:xfrm>
            <a:off x="6324448" y="5844645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324448" y="584464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2" name="passo 2"/>
          <p:cNvSpPr txBox="1"/>
          <p:nvPr/>
        </p:nvSpPr>
        <p:spPr>
          <a:xfrm>
            <a:off x="6854800" y="5789781"/>
            <a:ext cx="47882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"Chiudi" quando è gestita, "Riapri" se serve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Domande frequenti</a:t>
            </a:r>
            <a:endParaRPr lang="en-US" sz="3200" dirty="0"/>
          </a:p>
        </p:txBody>
      </p:sp>
      <p:sp>
        <p:nvSpPr>
          <p:cNvPr id="3" name="domanda 1"/>
          <p:cNvSpPr/>
          <p:nvPr/>
        </p:nvSpPr>
        <p:spPr>
          <a:xfrm>
            <a:off x="548640" y="1417320"/>
            <a:ext cx="351525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645920"/>
            <a:ext cx="25094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Perché non riesco a modificare un modulo?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46888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È già stato compilato: va duplicato e si modifica la copia.</a:t>
            </a:r>
            <a:endParaRPr lang="en-US" sz="1400" dirty="0"/>
          </a:p>
        </p:txBody>
      </p:sp>
      <p:sp>
        <p:nvSpPr>
          <p:cNvPr id="7" name="domanda 2"/>
          <p:cNvSpPr/>
          <p:nvPr/>
        </p:nvSpPr>
        <p:spPr>
          <a:xfrm>
            <a:off x="4338218" y="1417320"/>
            <a:ext cx="351525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538" y="1691640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115458" y="1645920"/>
            <a:ext cx="25094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Dove registro un controllo senza un punto preciso?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4612538" y="246888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"+ Compila modulo" → Dove: Tutto il cantiere.</a:t>
            </a:r>
            <a:endParaRPr lang="en-US" sz="1400" dirty="0"/>
          </a:p>
        </p:txBody>
      </p:sp>
      <p:sp>
        <p:nvSpPr>
          <p:cNvPr id="11" name="domanda 3"/>
          <p:cNvSpPr/>
          <p:nvPr/>
        </p:nvSpPr>
        <p:spPr>
          <a:xfrm>
            <a:off x="8127797" y="1417320"/>
            <a:ext cx="351525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117" y="169164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905037" y="1645920"/>
            <a:ext cx="25094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 compilato offline: è salvato?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8402117" y="246888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Sì, sul telefono. Parte da solo con la rete: la barra dice "N in attesa".</a:t>
            </a:r>
            <a:endParaRPr lang="en-US" sz="1400" dirty="0"/>
          </a:p>
        </p:txBody>
      </p:sp>
      <p:sp>
        <p:nvSpPr>
          <p:cNvPr id="15" name="domanda 4"/>
          <p:cNvSpPr/>
          <p:nvPr/>
        </p:nvSpPr>
        <p:spPr>
          <a:xfrm>
            <a:off x="548640" y="3840480"/>
            <a:ext cx="351525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114800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4069080"/>
            <a:ext cx="25094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riceve le notifiche?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822960" y="489204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Chi riceve un task, chi l'ha creato quando è risolto, l'ufficio su ogni non conformità.</a:t>
            </a:r>
            <a:endParaRPr lang="en-US" sz="1400" dirty="0"/>
          </a:p>
        </p:txBody>
      </p:sp>
      <p:sp>
        <p:nvSpPr>
          <p:cNvPr id="19" name="domanda 5"/>
          <p:cNvSpPr/>
          <p:nvPr/>
        </p:nvSpPr>
        <p:spPr>
          <a:xfrm>
            <a:off x="4338218" y="3840480"/>
            <a:ext cx="351525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2538" y="4114800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115458" y="4069080"/>
            <a:ext cx="25094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preparo il PCQ da importare?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4612538" y="489204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Moduli → Struttura PCQ → scarica l'esempio Word e sostituisci i testi.</a:t>
            </a:r>
            <a:endParaRPr lang="en-US" sz="1400" dirty="0"/>
          </a:p>
        </p:txBody>
      </p:sp>
      <p:sp>
        <p:nvSpPr>
          <p:cNvPr id="23" name="domanda 6"/>
          <p:cNvSpPr/>
          <p:nvPr/>
        </p:nvSpPr>
        <p:spPr>
          <a:xfrm>
            <a:off x="8127797" y="3840480"/>
            <a:ext cx="351525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2117" y="4114800"/>
            <a:ext cx="384048" cy="38404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905037" y="4069080"/>
            <a:ext cx="25094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 un problema con l'app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8402117" y="489204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"Contatta l'amministratore" in basso nel menu: scrivi cosa stavi facendo.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640080" y="1051560"/>
            <a:ext cx="1097280" cy="109728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/>
        </p:spPr>
      </p:sp>
      <p:pic>
        <p:nvPicPr>
          <p:cNvPr id="3" name="Image 0" descr="Logo InCamp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88720"/>
            <a:ext cx="822960" cy="82296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24688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Buon lavoro con InCampo</a:t>
            </a:r>
            <a:endParaRPr lang="en-US" sz="4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3794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Serve aiuto? "Contatta l'amministratore" è in basso nel menu, sul web e nell'app.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Campo Cosedil">
  <a:themeElements>
    <a:clrScheme name="InCampo Cosedil">
      <a:dk1>
        <a:srgbClr val="1F2328"/>
      </a:dk1>
      <a:lt1>
        <a:srgbClr val="FFFFFF"/>
      </a:lt1>
      <a:dk2>
        <a:srgbClr val="0C4577"/>
      </a:dk2>
      <a:lt2>
        <a:srgbClr val="EEF4FA"/>
      </a:lt2>
      <a:accent1>
        <a:srgbClr val="0C4577"/>
      </a:accent1>
      <a:accent2>
        <a:srgbClr val="65BC7B"/>
      </a:accent2>
      <a:accent3>
        <a:srgbClr val="1477B8"/>
      </a:accent3>
      <a:accent4>
        <a:srgbClr val="E39B2D"/>
      </a:accent4>
      <a:accent5>
        <a:srgbClr val="C0392B"/>
      </a:accent5>
      <a:accent6>
        <a:srgbClr val="8A94A3"/>
      </a:accent6>
      <a:hlink>
        <a:srgbClr val="1477B8"/>
      </a:hlink>
      <a:folHlink>
        <a:srgbClr val="0C4577"/>
      </a:folHlink>
    </a:clrScheme>
    <a:fontScheme name="InCampo Cosedi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Cosedil S.p.A.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InCampo — guida completa</dc:title>
  <dc:subject>PptxGenJS Presentation</dc:subject>
  <dc:creator>Cosedil S.p.A.</dc:creator>
  <cp:lastModifiedBy>Cosedil S.p.A.</cp:lastModifiedBy>
  <cp:revision>1</cp:revision>
  <dcterms:created xsi:type="dcterms:W3CDTF">2026-10-08T13:03:14Z</dcterms:created>
  <dcterms:modified xsi:type="dcterms:W3CDTF">2026-10-08T13:03:14Z</dcterms:modified>
</cp:coreProperties>
</file>